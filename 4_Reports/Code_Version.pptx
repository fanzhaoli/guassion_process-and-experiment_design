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60" r:id="rId6"/>
    <p:sldId id="261" r:id="rId7"/>
    <p:sldId id="262" r:id="rId8"/>
    <p:sldId id="259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020" y="963295"/>
            <a:ext cx="5695950" cy="43053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7498715" y="773430"/>
            <a:ext cx="4064000" cy="50774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归一化输入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P/T/W </a:t>
            </a:r>
            <a:r>
              <a:rPr lang="zh-CN" altLang="en-US"/>
              <a:t>在每个</a:t>
            </a:r>
            <a:r>
              <a:rPr lang="en-US" altLang="zh-CN"/>
              <a:t> trial </a:t>
            </a:r>
            <a:r>
              <a:rPr lang="zh-CN" altLang="en-US"/>
              <a:t>以连续值采样于</a:t>
            </a:r>
            <a:r>
              <a:rPr lang="en-US" altLang="zh-CN"/>
              <a:t> [-1, 1]</a:t>
            </a:r>
            <a:r>
              <a:rPr lang="zh-CN" altLang="en-US"/>
              <a:t>，作为</a:t>
            </a:r>
            <a:r>
              <a:rPr lang="en-US" altLang="zh-CN"/>
              <a:t> GP+sigmoid </a:t>
            </a:r>
            <a:r>
              <a:rPr lang="zh-CN" altLang="en-US"/>
              <a:t>的输入（模型在标准化空间上学习</a:t>
            </a:r>
            <a:r>
              <a:rPr lang="en-US" altLang="zh-CN"/>
              <a:t> v/a </a:t>
            </a:r>
            <a:r>
              <a:rPr lang="zh-CN" altLang="en-US"/>
              <a:t>映射）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具体例子（按照</a:t>
            </a:r>
            <a:r>
              <a:rPr lang="en-US" altLang="zh-CN"/>
              <a:t> S2 </a:t>
            </a:r>
            <a:r>
              <a:rPr lang="zh-CN" altLang="en-US"/>
              <a:t>的采样范围）：</a:t>
            </a:r>
            <a:endParaRPr lang="zh-CN" altLang="en-US"/>
          </a:p>
          <a:p>
            <a:r>
              <a:rPr lang="en-US" altLang="zh-CN"/>
              <a:t>P in [0,150] </a:t>
            </a:r>
            <a:r>
              <a:rPr lang="en-US" altLang="en-US"/>
              <a:t>→</a:t>
            </a:r>
            <a:r>
              <a:rPr lang="en-US" altLang="zh-CN"/>
              <a:t> P_norm = (P - 75) / 75</a:t>
            </a:r>
            <a:endParaRPr lang="en-US" altLang="zh-CN"/>
          </a:p>
          <a:p>
            <a:r>
              <a:rPr lang="en-US" altLang="zh-CN"/>
              <a:t>T in [10,600] </a:t>
            </a:r>
            <a:r>
              <a:rPr lang="en-US" altLang="en-US"/>
              <a:t>→</a:t>
            </a:r>
            <a:r>
              <a:rPr lang="en-US" altLang="zh-CN"/>
              <a:t> T_norm = (T - 305) / 295</a:t>
            </a:r>
            <a:endParaRPr lang="en-US" altLang="zh-CN"/>
          </a:p>
          <a:p>
            <a:r>
              <a:rPr lang="en-US" altLang="zh-CN"/>
              <a:t>W in [200,1500] </a:t>
            </a:r>
            <a:r>
              <a:rPr lang="en-US" altLang="en-US"/>
              <a:t>→</a:t>
            </a:r>
            <a:r>
              <a:rPr lang="en-US" altLang="zh-CN"/>
              <a:t> W_norm = (W - 850) / 650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归一化能让模型更稳定（尤其是核方法</a:t>
            </a:r>
            <a:r>
              <a:rPr lang="en-US" altLang="zh-CN"/>
              <a:t>/GP</a:t>
            </a:r>
            <a:r>
              <a:rPr lang="zh-CN" altLang="en-US"/>
              <a:t>），但会掩盖物理量级信息；若保留物理解释性，考虑在模型里显式加入尺度参数或用标准化但保留逆变换用于解释。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679450" y="2317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Generate_Data_v1.ipynb</a:t>
            </a:r>
            <a:endParaRPr lang="en-US" alt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b="2623"/>
          <a:stretch>
            <a:fillRect/>
          </a:stretch>
        </p:blipFill>
        <p:spPr>
          <a:xfrm>
            <a:off x="1303020" y="2097405"/>
            <a:ext cx="8915400" cy="252285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702310" y="349250"/>
            <a:ext cx="406400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gp_ddm_simulation_v1.1-5.csv</a:t>
            </a:r>
            <a:endParaRPr lang="en-US" altLang="zh-CN"/>
          </a:p>
          <a:p>
            <a:r>
              <a:rPr lang="en-US" altLang="zh-CN"/>
              <a:t>gp_ddm_simulation_v1.2-200.csv</a:t>
            </a:r>
            <a:endParaRPr lang="en-US" altLang="zh-CN"/>
          </a:p>
          <a:p>
            <a:r>
              <a:rPr lang="en-US" altLang="zh-CN"/>
              <a:t>gp_ddm_simulation_v1.3-2000.csv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563880" y="20828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S2_gen_data_optimized.ipynb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196850" y="890270"/>
            <a:ext cx="11995150" cy="114484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/>
          </a:p>
          <a:p>
            <a:r>
              <a:rPr lang="zh-CN" altLang="en-US"/>
              <a:t>旧版是逐步累积噪声，</a:t>
            </a:r>
            <a:r>
              <a:rPr lang="en-US" altLang="zh-CN"/>
              <a:t> </a:t>
            </a:r>
            <a:r>
              <a:rPr lang="zh-CN" altLang="en-US"/>
              <a:t>新版是向量化一次生成整条证据轨迹</a:t>
            </a:r>
            <a:endParaRPr lang="zh-CN" altLang="en-US"/>
          </a:p>
          <a:p>
            <a:r>
              <a:rPr lang="zh-CN" altLang="en-US"/>
              <a:t>旧版每个时间步都：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采一个噪声</a:t>
            </a:r>
            <a:endParaRPr lang="zh-CN" altLang="en-US"/>
          </a:p>
          <a:p>
            <a:r>
              <a:rPr lang="zh-CN" altLang="en-US"/>
              <a:t>更新一次</a:t>
            </a:r>
            <a:r>
              <a:rPr lang="en-US" altLang="zh-CN"/>
              <a:t> evidence</a:t>
            </a:r>
            <a:endParaRPr lang="en-US" altLang="zh-CN"/>
          </a:p>
          <a:p>
            <a:r>
              <a:rPr lang="zh-CN" altLang="en-US"/>
              <a:t>检查是否过边界</a:t>
            </a:r>
            <a:endParaRPr lang="zh-CN" altLang="en-US"/>
          </a:p>
          <a:p>
            <a:r>
              <a:rPr lang="zh-CN" altLang="en-US"/>
              <a:t>新版先生成整段</a:t>
            </a:r>
            <a:r>
              <a:rPr lang="en-US" altLang="zh-CN"/>
              <a:t> noise</a:t>
            </a:r>
            <a:r>
              <a:rPr lang="zh-CN" altLang="en-US"/>
              <a:t>，再用</a:t>
            </a:r>
            <a:r>
              <a:rPr lang="en-US" altLang="zh-CN"/>
              <a:t> np.cumsum() </a:t>
            </a:r>
            <a:r>
              <a:rPr lang="zh-CN" altLang="en-US"/>
              <a:t>得到整条</a:t>
            </a:r>
            <a:r>
              <a:rPr lang="en-US" altLang="zh-CN"/>
              <a:t> evidence </a:t>
            </a:r>
            <a:r>
              <a:rPr lang="zh-CN" altLang="en-US"/>
              <a:t>轨迹，再找第一次</a:t>
            </a:r>
            <a:r>
              <a:rPr lang="en-US" altLang="zh-CN"/>
              <a:t> crossing</a:t>
            </a:r>
            <a:r>
              <a:rPr lang="zh-CN" altLang="en-US"/>
              <a:t>。</a:t>
            </a:r>
            <a:endParaRPr lang="zh-CN" altLang="en-US"/>
          </a:p>
          <a:p>
            <a:r>
              <a:rPr lang="zh-CN" altLang="en-US"/>
              <a:t>核心逻辑是同一种</a:t>
            </a:r>
            <a:r>
              <a:rPr lang="en-US" altLang="zh-CN"/>
              <a:t> DDM </a:t>
            </a:r>
            <a:r>
              <a:rPr lang="zh-CN" altLang="en-US"/>
              <a:t>近似模拟，但新版速度快很多。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新版支持批处理和并行</a:t>
            </a:r>
            <a:endParaRPr lang="zh-CN" altLang="en-US"/>
          </a:p>
          <a:p>
            <a:r>
              <a:rPr lang="zh-CN" altLang="en-US"/>
              <a:t>新版增加了：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compute_a_vectorized()</a:t>
            </a:r>
            <a:endParaRPr lang="en-US" altLang="zh-CN"/>
          </a:p>
          <a:p>
            <a:r>
              <a:rPr lang="en-US" altLang="zh-CN"/>
              <a:t>generate_batch_vectorized()</a:t>
            </a:r>
            <a:endParaRPr lang="en-US" altLang="zh-CN"/>
          </a:p>
          <a:p>
            <a:r>
              <a:rPr lang="en-US" altLang="zh-CN"/>
              <a:t>generate_data_random_params_optimized(..., batch_size, n_jobs)</a:t>
            </a:r>
            <a:endParaRPr lang="en-US" altLang="zh-CN"/>
          </a:p>
          <a:p>
            <a:r>
              <a:rPr lang="zh-CN" altLang="en-US"/>
              <a:t>并用</a:t>
            </a:r>
            <a:r>
              <a:rPr lang="en-US" altLang="zh-CN"/>
              <a:t> joblib.Parallel </a:t>
            </a:r>
            <a:r>
              <a:rPr lang="zh-CN" altLang="en-US"/>
              <a:t>跑大样本。</a:t>
            </a:r>
            <a:endParaRPr lang="zh-CN" altLang="en-US"/>
          </a:p>
          <a:p>
            <a:r>
              <a:rPr lang="zh-CN" altLang="en-US"/>
              <a:t>旧版基本是单线程、串行、脚本式生成。</a:t>
            </a:r>
            <a:endParaRPr lang="zh-CN" altLang="en-US"/>
          </a:p>
          <a:p>
            <a:r>
              <a:rPr lang="en-US" altLang="zh-CN"/>
              <a:t>notebook </a:t>
            </a:r>
            <a:r>
              <a:rPr lang="zh-CN" altLang="en-US"/>
              <a:t>的用途也不同</a:t>
            </a:r>
            <a:endParaRPr lang="zh-CN" altLang="en-US"/>
          </a:p>
          <a:p>
            <a:r>
              <a:rPr lang="zh-CN" altLang="en-US"/>
              <a:t>旧版除了随机生成</a:t>
            </a:r>
            <a:r>
              <a:rPr lang="en-US" altLang="zh-CN"/>
              <a:t> 250430.csv</a:t>
            </a:r>
            <a:r>
              <a:rPr lang="zh-CN" altLang="en-US"/>
              <a:t>，还保留了固定设计点的生成入口，比如</a:t>
            </a:r>
            <a:r>
              <a:rPr lang="en-US" altLang="zh-CN"/>
              <a:t> generate_data(num_subjects, num_trials, P, T, W)</a:t>
            </a:r>
            <a:r>
              <a:rPr lang="zh-CN" altLang="en-US"/>
              <a:t>，并在后面直接跑</a:t>
            </a:r>
            <a:r>
              <a:rPr lang="en-US" altLang="zh-CN"/>
              <a:t> d1.csv</a:t>
            </a:r>
            <a:r>
              <a:rPr lang="zh-CN" altLang="en-US"/>
              <a:t>、</a:t>
            </a:r>
            <a:r>
              <a:rPr lang="en-US" altLang="zh-CN"/>
              <a:t>d2.csv </a:t>
            </a:r>
            <a:r>
              <a:rPr lang="zh-CN" altLang="en-US"/>
              <a:t>这类条件文件。</a:t>
            </a:r>
            <a:endParaRPr lang="zh-CN" altLang="en-US"/>
          </a:p>
          <a:p>
            <a:r>
              <a:rPr lang="zh-CN" altLang="en-US"/>
              <a:t>新版更聚焦于</a:t>
            </a:r>
            <a:r>
              <a:rPr lang="en-US" altLang="zh-CN"/>
              <a:t> Study 2 </a:t>
            </a:r>
            <a:r>
              <a:rPr lang="zh-CN" altLang="en-US"/>
              <a:t>的随机设计空间大数据生成，并把</a:t>
            </a:r>
            <a:r>
              <a:rPr lang="en-US" altLang="zh-CN"/>
              <a:t>“</a:t>
            </a:r>
            <a:r>
              <a:rPr lang="zh-CN" altLang="en-US"/>
              <a:t>大样本输出</a:t>
            </a:r>
            <a:r>
              <a:rPr lang="en-US" altLang="zh-CN"/>
              <a:t>”</a:t>
            </a:r>
            <a:r>
              <a:rPr lang="zh-CN" altLang="en-US"/>
              <a:t>和</a:t>
            </a:r>
            <a:r>
              <a:rPr lang="en-US" altLang="zh-CN"/>
              <a:t>“benchmark/validation”</a:t>
            </a:r>
            <a:r>
              <a:rPr lang="zh-CN" altLang="en-US"/>
              <a:t>流程分开写清楚。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3. </a:t>
            </a:r>
            <a:r>
              <a:rPr lang="zh-CN" altLang="en-US"/>
              <a:t>对结果的实际影响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如果你问</a:t>
            </a:r>
            <a:r>
              <a:rPr lang="en-US" altLang="zh-CN"/>
              <a:t>“</a:t>
            </a:r>
            <a:r>
              <a:rPr lang="zh-CN" altLang="en-US"/>
              <a:t>这两个</a:t>
            </a:r>
            <a:r>
              <a:rPr lang="en-US" altLang="zh-CN"/>
              <a:t> notebook </a:t>
            </a:r>
            <a:r>
              <a:rPr lang="zh-CN" altLang="en-US"/>
              <a:t>最终会不会生成不一样的数据分布</a:t>
            </a:r>
            <a:r>
              <a:rPr lang="en-US" altLang="zh-CN"/>
              <a:t>”</a:t>
            </a:r>
            <a:r>
              <a:rPr lang="zh-CN" altLang="en-US"/>
              <a:t>，答案是会，而且差异不小，主要因为：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v_P </a:t>
            </a:r>
            <a:r>
              <a:rPr lang="zh-CN" altLang="en-US"/>
              <a:t>的参数函数改了</a:t>
            </a:r>
            <a:endParaRPr lang="zh-CN" altLang="en-US"/>
          </a:p>
          <a:p>
            <a:r>
              <a:rPr lang="en-US" altLang="zh-CN"/>
              <a:t>a </a:t>
            </a:r>
            <a:r>
              <a:rPr lang="zh-CN" altLang="en-US"/>
              <a:t>的噪声从</a:t>
            </a:r>
            <a:r>
              <a:rPr lang="en-US" altLang="zh-CN"/>
              <a:t>“</a:t>
            </a:r>
            <a:r>
              <a:rPr lang="zh-CN" altLang="en-US"/>
              <a:t>双层大波动</a:t>
            </a:r>
            <a:r>
              <a:rPr lang="en-US" altLang="zh-CN"/>
              <a:t>”</a:t>
            </a:r>
            <a:r>
              <a:rPr lang="zh-CN" altLang="en-US"/>
              <a:t>改成了</a:t>
            </a:r>
            <a:r>
              <a:rPr lang="en-US" altLang="zh-CN"/>
              <a:t>“</a:t>
            </a:r>
            <a:r>
              <a:rPr lang="zh-CN" altLang="en-US"/>
              <a:t>被试层</a:t>
            </a:r>
            <a:r>
              <a:rPr lang="en-US" altLang="zh-CN"/>
              <a:t> CV </a:t>
            </a:r>
            <a:r>
              <a:rPr lang="zh-CN" altLang="en-US"/>
              <a:t>波动</a:t>
            </a:r>
            <a:r>
              <a:rPr lang="en-US" altLang="zh-CN"/>
              <a:t>”</a:t>
            </a:r>
            <a:endParaRPr lang="en-US" altLang="zh-CN"/>
          </a:p>
          <a:p>
            <a:r>
              <a:rPr lang="zh-CN" altLang="en-US"/>
              <a:t>旧版补足有效</a:t>
            </a:r>
            <a:r>
              <a:rPr lang="en-US" altLang="zh-CN"/>
              <a:t> trial</a:t>
            </a:r>
            <a:r>
              <a:rPr lang="zh-CN" altLang="en-US"/>
              <a:t>，新版直接丢弃无效</a:t>
            </a:r>
            <a:r>
              <a:rPr lang="en-US" altLang="zh-CN"/>
              <a:t> trial</a:t>
            </a:r>
            <a:endParaRPr lang="en-US" altLang="zh-CN"/>
          </a:p>
          <a:p>
            <a:r>
              <a:rPr lang="zh-CN" altLang="en-US"/>
              <a:t>新版的随机种子和批处理方式更规范</a:t>
            </a:r>
            <a:endParaRPr lang="zh-CN" altLang="en-US"/>
          </a:p>
          <a:p>
            <a:r>
              <a:rPr lang="zh-CN" altLang="en-US"/>
              <a:t>所以它们不是</a:t>
            </a:r>
            <a:r>
              <a:rPr lang="en-US" altLang="zh-CN"/>
              <a:t>“</a:t>
            </a:r>
            <a:r>
              <a:rPr lang="zh-CN" altLang="en-US"/>
              <a:t>纯粹速度优化后的同一生成器</a:t>
            </a:r>
            <a:r>
              <a:rPr lang="en-US" altLang="zh-CN"/>
              <a:t>”</a:t>
            </a:r>
            <a:r>
              <a:rPr lang="zh-CN" altLang="en-US"/>
              <a:t>，而是</a:t>
            </a:r>
            <a:r>
              <a:rPr lang="en-US" altLang="zh-CN"/>
              <a:t>“</a:t>
            </a:r>
            <a:r>
              <a:rPr lang="zh-CN" altLang="en-US"/>
              <a:t>模型细节也被重新整理过</a:t>
            </a:r>
            <a:r>
              <a:rPr lang="en-US" altLang="zh-CN"/>
              <a:t>”</a:t>
            </a:r>
            <a:r>
              <a:rPr lang="zh-CN" altLang="en-US"/>
              <a:t>的两个版本。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4. </a:t>
            </a:r>
            <a:r>
              <a:rPr lang="zh-CN" altLang="en-US"/>
              <a:t>我建议你怎么理解它们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S2_gen_data.ipynb </a:t>
            </a:r>
            <a:r>
              <a:rPr lang="zh-CN" altLang="en-US"/>
              <a:t>更像早期原型</a:t>
            </a:r>
            <a:r>
              <a:rPr lang="en-US" altLang="zh-CN"/>
              <a:t>/</a:t>
            </a:r>
            <a:r>
              <a:rPr lang="zh-CN" altLang="en-US"/>
              <a:t>探索脚本</a:t>
            </a:r>
            <a:endParaRPr lang="zh-CN" altLang="en-US"/>
          </a:p>
          <a:p>
            <a:r>
              <a:rPr lang="en-US" altLang="zh-CN"/>
              <a:t>S2_gen_data_optimized.ipynb </a:t>
            </a:r>
            <a:r>
              <a:rPr lang="zh-CN" altLang="en-US"/>
              <a:t>更像当前正式使用的</a:t>
            </a:r>
            <a:r>
              <a:rPr lang="en-US" altLang="zh-CN"/>
              <a:t> Study 2 </a:t>
            </a:r>
            <a:r>
              <a:rPr lang="zh-CN" altLang="en-US"/>
              <a:t>生成器</a:t>
            </a:r>
            <a:endParaRPr lang="zh-CN" altLang="en-US"/>
          </a:p>
          <a:p>
            <a:r>
              <a:rPr lang="zh-CN" altLang="en-US"/>
              <a:t>如果你愿意，我下一步可以继续帮你做两件很具体的事之一：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我把两个</a:t>
            </a:r>
            <a:r>
              <a:rPr lang="en-US" altLang="zh-CN"/>
              <a:t> notebook </a:t>
            </a:r>
            <a:r>
              <a:rPr lang="zh-CN" altLang="en-US"/>
              <a:t>的核心参数写成一张</a:t>
            </a:r>
            <a:r>
              <a:rPr lang="en-US" altLang="zh-CN"/>
              <a:t>“</a:t>
            </a:r>
            <a:r>
              <a:rPr lang="zh-CN" altLang="en-US"/>
              <a:t>旧版</a:t>
            </a:r>
            <a:r>
              <a:rPr lang="en-US" altLang="zh-CN"/>
              <a:t> vs </a:t>
            </a:r>
            <a:r>
              <a:rPr lang="zh-CN" altLang="en-US"/>
              <a:t>新版</a:t>
            </a:r>
            <a:r>
              <a:rPr lang="en-US" altLang="zh-CN"/>
              <a:t>”</a:t>
            </a:r>
            <a:r>
              <a:rPr lang="zh-CN" altLang="en-US"/>
              <a:t>对照表</a:t>
            </a:r>
            <a:endParaRPr lang="zh-CN" altLang="en-US"/>
          </a:p>
          <a:p>
            <a:r>
              <a:rPr lang="zh-CN" altLang="en-US"/>
              <a:t>我直接帮你追踪这两个版本各自最终输出的</a:t>
            </a:r>
            <a:r>
              <a:rPr lang="en-US" altLang="zh-CN"/>
              <a:t> csv</a:t>
            </a:r>
            <a:r>
              <a:rPr lang="zh-CN" altLang="en-US"/>
              <a:t>，看看后续分析实际用了哪一个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563880" y="20828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S2_gen_data_optimized.ipynb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196850" y="890270"/>
            <a:ext cx="11995150" cy="53543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ym typeface="+mn-ea"/>
              </a:rPr>
              <a:t>S2_gen_data_optimized.ipynb </a:t>
            </a:r>
            <a:r>
              <a:rPr lang="zh-CN" altLang="en-US">
                <a:sym typeface="+mn-ea"/>
              </a:rPr>
              <a:t>不是完全换了一个模型，而是在保留</a:t>
            </a:r>
            <a:r>
              <a:rPr lang="en-US" altLang="zh-CN">
                <a:sym typeface="+mn-ea"/>
              </a:rPr>
              <a:t> P/T/W -&gt; v/a -&gt; RT/response </a:t>
            </a:r>
            <a:r>
              <a:rPr lang="zh-CN" altLang="en-US">
                <a:sym typeface="+mn-ea"/>
              </a:rPr>
              <a:t>这条主思路的基础上，修正了部分参数设定，重构了</a:t>
            </a:r>
            <a:r>
              <a:rPr lang="en-US" altLang="zh-CN">
                <a:sym typeface="+mn-ea"/>
              </a:rPr>
              <a:t> a </a:t>
            </a:r>
            <a:r>
              <a:rPr lang="zh-CN" altLang="en-US">
                <a:sym typeface="+mn-ea"/>
              </a:rPr>
              <a:t>的噪声层级，并且把生成流程改成了</a:t>
            </a:r>
            <a:r>
              <a:rPr lang="en-US" altLang="zh-CN">
                <a:sym typeface="+mn-ea"/>
              </a:rPr>
              <a:t>“</a:t>
            </a:r>
            <a:r>
              <a:rPr lang="zh-CN" altLang="en-US">
                <a:sym typeface="+mn-ea"/>
              </a:rPr>
              <a:t>可验证、可并行、可复现</a:t>
            </a:r>
            <a:r>
              <a:rPr lang="en-US" altLang="zh-CN">
                <a:sym typeface="+mn-ea"/>
              </a:rPr>
              <a:t>”</a:t>
            </a:r>
            <a:r>
              <a:rPr lang="zh-CN" altLang="en-US">
                <a:sym typeface="+mn-ea"/>
              </a:rPr>
              <a:t>的版本。真正大的差异主要有两类：参数函数不同，和有效</a:t>
            </a:r>
            <a:r>
              <a:rPr lang="en-US" altLang="zh-CN">
                <a:sym typeface="+mn-ea"/>
              </a:rPr>
              <a:t> trial </a:t>
            </a:r>
            <a:r>
              <a:rPr lang="zh-CN" altLang="en-US">
                <a:sym typeface="+mn-ea"/>
              </a:rPr>
              <a:t>的保留策略不同。</a:t>
            </a:r>
            <a:endParaRPr lang="zh-CN" altLang="en-US"/>
          </a:p>
          <a:p>
            <a:endParaRPr lang="en-US" altLang="zh-CN"/>
          </a:p>
          <a:p>
            <a:r>
              <a:rPr lang="en-US" altLang="zh-CN">
                <a:sym typeface="+mn-ea"/>
              </a:rPr>
              <a:t>1. </a:t>
            </a:r>
            <a:r>
              <a:rPr lang="zh-CN" altLang="en-US">
                <a:sym typeface="+mn-ea"/>
              </a:rPr>
              <a:t>参数设置上的不同</a:t>
            </a:r>
            <a:endParaRPr lang="zh-CN" altLang="en-US"/>
          </a:p>
          <a:p>
            <a:endParaRPr lang="en-US" altLang="zh-CN"/>
          </a:p>
          <a:p>
            <a:r>
              <a:rPr lang="en-US" altLang="zh-CN">
                <a:sym typeface="+mn-ea"/>
              </a:rPr>
              <a:t>gamma </a:t>
            </a:r>
            <a:r>
              <a:rPr lang="zh-CN" altLang="en-US">
                <a:sym typeface="+mn-ea"/>
              </a:rPr>
              <a:t>不同</a:t>
            </a:r>
            <a:endParaRPr lang="zh-CN" altLang="en-US"/>
          </a:p>
          <a:p>
            <a:r>
              <a:rPr lang="zh-CN" altLang="en-US">
                <a:sym typeface="+mn-ea"/>
              </a:rPr>
              <a:t>在旧版</a:t>
            </a:r>
            <a:r>
              <a:rPr lang="en-US" altLang="zh-CN">
                <a:sym typeface="+mn-ea"/>
              </a:rPr>
              <a:t> S2_gen_data.ipynb </a:t>
            </a:r>
            <a:r>
              <a:rPr lang="zh-CN" altLang="en-US">
                <a:sym typeface="+mn-ea"/>
              </a:rPr>
              <a:t>里，全局是</a:t>
            </a:r>
            <a:r>
              <a:rPr lang="en-US" altLang="zh-CN">
                <a:sym typeface="+mn-ea"/>
              </a:rPr>
              <a:t> gamma = 0.2</a:t>
            </a:r>
            <a:r>
              <a:rPr lang="zh-CN" altLang="en-US">
                <a:sym typeface="+mn-ea"/>
              </a:rPr>
              <a:t>。</a:t>
            </a:r>
            <a:endParaRPr lang="zh-CN" altLang="en-US"/>
          </a:p>
          <a:p>
            <a:r>
              <a:rPr lang="zh-CN" altLang="en-US">
                <a:sym typeface="+mn-ea"/>
              </a:rPr>
              <a:t>在新版</a:t>
            </a:r>
            <a:r>
              <a:rPr lang="en-US" altLang="zh-CN">
                <a:sym typeface="+mn-ea"/>
              </a:rPr>
              <a:t> S2_gen_data_optimized.ipynb </a:t>
            </a:r>
            <a:r>
              <a:rPr lang="zh-CN" altLang="en-US">
                <a:sym typeface="+mn-ea"/>
              </a:rPr>
              <a:t>里，是</a:t>
            </a:r>
            <a:r>
              <a:rPr lang="en-US" altLang="zh-CN">
                <a:sym typeface="+mn-ea"/>
              </a:rPr>
              <a:t> GAMMA = 0.1</a:t>
            </a:r>
            <a:r>
              <a:rPr lang="zh-CN" altLang="en-US">
                <a:sym typeface="+mn-ea"/>
              </a:rPr>
              <a:t>。</a:t>
            </a:r>
            <a:endParaRPr lang="zh-CN" altLang="en-US"/>
          </a:p>
          <a:p>
            <a:r>
              <a:rPr lang="zh-CN" altLang="en-US">
                <a:sym typeface="+mn-ea"/>
              </a:rPr>
              <a:t>这会直接影响</a:t>
            </a:r>
            <a:r>
              <a:rPr lang="en-US" altLang="zh-CN">
                <a:sym typeface="+mn-ea"/>
              </a:rPr>
              <a:t> practice </a:t>
            </a:r>
            <a:r>
              <a:rPr lang="zh-CN" altLang="en-US">
                <a:sym typeface="+mn-ea"/>
              </a:rPr>
              <a:t>对</a:t>
            </a:r>
            <a:r>
              <a:rPr lang="en-US" altLang="zh-CN">
                <a:sym typeface="+mn-ea"/>
              </a:rPr>
              <a:t> v_P </a:t>
            </a:r>
            <a:r>
              <a:rPr lang="zh-CN" altLang="en-US">
                <a:sym typeface="+mn-ea"/>
              </a:rPr>
              <a:t>的</a:t>
            </a:r>
            <a:r>
              <a:rPr lang="en-US" altLang="zh-CN">
                <a:sym typeface="+mn-ea"/>
              </a:rPr>
              <a:t> sigmoid </a:t>
            </a:r>
            <a:r>
              <a:rPr lang="zh-CN" altLang="en-US">
                <a:sym typeface="+mn-ea"/>
              </a:rPr>
              <a:t>变化速度。</a:t>
            </a:r>
            <a:endParaRPr lang="zh-CN" altLang="en-US"/>
          </a:p>
          <a:p>
            <a:endParaRPr lang="en-US" altLang="zh-CN"/>
          </a:p>
          <a:p>
            <a:r>
              <a:rPr lang="en-US" altLang="zh-CN">
                <a:sym typeface="+mn-ea"/>
              </a:rPr>
              <a:t>v_P </a:t>
            </a:r>
            <a:r>
              <a:rPr lang="zh-CN" altLang="en-US">
                <a:sym typeface="+mn-ea"/>
              </a:rPr>
              <a:t>的</a:t>
            </a:r>
            <a:r>
              <a:rPr lang="en-US" altLang="zh-CN">
                <a:sym typeface="+mn-ea"/>
              </a:rPr>
              <a:t> k_min/k_max </a:t>
            </a:r>
            <a:r>
              <a:rPr lang="zh-CN" altLang="en-US">
                <a:sym typeface="+mn-ea"/>
              </a:rPr>
              <a:t>传参不同，而且旧版看起来有反向传参问题</a:t>
            </a:r>
            <a:endParaRPr lang="zh-CN" altLang="en-US"/>
          </a:p>
          <a:p>
            <a:r>
              <a:rPr lang="zh-CN" altLang="en-US">
                <a:sym typeface="+mn-ea"/>
              </a:rPr>
              <a:t>旧版</a:t>
            </a:r>
            <a:r>
              <a:rPr lang="en-US" altLang="zh-CN">
                <a:sym typeface="+mn-ea"/>
              </a:rPr>
              <a:t> compute_v() </a:t>
            </a:r>
            <a:r>
              <a:rPr lang="zh-CN" altLang="en-US">
                <a:sym typeface="+mn-ea"/>
              </a:rPr>
              <a:t>调的是：</a:t>
            </a:r>
            <a:endParaRPr lang="zh-CN" altLang="en-US"/>
          </a:p>
          <a:p>
            <a:r>
              <a:rPr lang="en-US" altLang="zh-CN">
                <a:sym typeface="+mn-ea"/>
              </a:rPr>
              <a:t>v_P_Function(..., k_min=0.1, k_max=0.05, gamma=gamma, P0=32)</a:t>
            </a:r>
            <a:endParaRPr lang="en-US" altLang="zh-CN"/>
          </a:p>
          <a:p>
            <a:r>
              <a:rPr lang="zh-CN" altLang="en-US">
                <a:sym typeface="+mn-ea"/>
              </a:rPr>
              <a:t>新版调的是：</a:t>
            </a:r>
            <a:endParaRPr lang="zh-CN" altLang="en-US">
              <a:sym typeface="+mn-ea"/>
            </a:endParaRPr>
          </a:p>
          <a:p>
            <a:r>
              <a:rPr lang="en-US" altLang="zh-CN">
                <a:sym typeface="+mn-ea"/>
              </a:rPr>
              <a:t>v_P_func(..., k_min=0.01, k_max=0.15, gamma=GAMMA, P0=32)</a:t>
            </a:r>
            <a:endParaRPr lang="en-US" altLang="zh-CN"/>
          </a:p>
          <a:p>
            <a:r>
              <a:rPr lang="zh-CN" altLang="en-US">
                <a:sym typeface="+mn-ea"/>
              </a:rPr>
              <a:t>也就是说，新版把</a:t>
            </a:r>
            <a:r>
              <a:rPr lang="en-US" altLang="zh-CN">
                <a:sym typeface="+mn-ea"/>
              </a:rPr>
              <a:t> practice </a:t>
            </a:r>
            <a:r>
              <a:rPr lang="zh-CN" altLang="en-US">
                <a:sym typeface="+mn-ea"/>
              </a:rPr>
              <a:t>相关斜率函数恢复成更正常的</a:t>
            </a:r>
            <a:r>
              <a:rPr lang="en-US" altLang="zh-CN">
                <a:sym typeface="+mn-ea"/>
              </a:rPr>
              <a:t>“</a:t>
            </a:r>
            <a:r>
              <a:rPr lang="zh-CN" altLang="en-US">
                <a:sym typeface="+mn-ea"/>
              </a:rPr>
              <a:t>从小到大</a:t>
            </a:r>
            <a:r>
              <a:rPr lang="en-US" altLang="zh-CN">
                <a:sym typeface="+mn-ea"/>
              </a:rPr>
              <a:t>”</a:t>
            </a:r>
            <a:r>
              <a:rPr lang="zh-CN" altLang="en-US">
                <a:sym typeface="+mn-ea"/>
              </a:rPr>
              <a:t>的区间；旧版这个设定会让</a:t>
            </a:r>
            <a:r>
              <a:rPr lang="en-US" altLang="zh-CN">
                <a:sym typeface="+mn-ea"/>
              </a:rPr>
              <a:t> k(P) </a:t>
            </a:r>
            <a:r>
              <a:rPr lang="zh-CN" altLang="en-US">
                <a:sym typeface="+mn-ea"/>
              </a:rPr>
              <a:t>的行为和直觉不太一致，属于很重要的差异。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563880" y="20828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S2_gen_data_optimized.ipynb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196850" y="890270"/>
            <a:ext cx="11995150" cy="59080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ym typeface="+mn-ea"/>
              </a:rPr>
              <a:t>S2_gen_data_optimized.ipynb </a:t>
            </a:r>
            <a:r>
              <a:rPr lang="zh-CN" altLang="en-US">
                <a:sym typeface="+mn-ea"/>
              </a:rPr>
              <a:t>不是完全换了一个模型，而是在保留</a:t>
            </a:r>
            <a:r>
              <a:rPr lang="en-US" altLang="zh-CN">
                <a:sym typeface="+mn-ea"/>
              </a:rPr>
              <a:t> P/T/W -&gt; v/a -&gt; RT/response </a:t>
            </a:r>
            <a:r>
              <a:rPr lang="zh-CN" altLang="en-US">
                <a:sym typeface="+mn-ea"/>
              </a:rPr>
              <a:t>这条主思路的基础上，修正了部分参数设定，重构了</a:t>
            </a:r>
            <a:r>
              <a:rPr lang="en-US" altLang="zh-CN">
                <a:sym typeface="+mn-ea"/>
              </a:rPr>
              <a:t> a </a:t>
            </a:r>
            <a:r>
              <a:rPr lang="zh-CN" altLang="en-US">
                <a:sym typeface="+mn-ea"/>
              </a:rPr>
              <a:t>的噪声层级，并且把生成流程改成了</a:t>
            </a:r>
            <a:r>
              <a:rPr lang="en-US" altLang="zh-CN">
                <a:sym typeface="+mn-ea"/>
              </a:rPr>
              <a:t>“</a:t>
            </a:r>
            <a:r>
              <a:rPr lang="zh-CN" altLang="en-US">
                <a:sym typeface="+mn-ea"/>
              </a:rPr>
              <a:t>可验证、可并行、可复现</a:t>
            </a:r>
            <a:r>
              <a:rPr lang="en-US" altLang="zh-CN">
                <a:sym typeface="+mn-ea"/>
              </a:rPr>
              <a:t>”</a:t>
            </a:r>
            <a:r>
              <a:rPr lang="zh-CN" altLang="en-US">
                <a:sym typeface="+mn-ea"/>
              </a:rPr>
              <a:t>的版本。真正大的差异主要有两类：参数函数不同，和有效</a:t>
            </a:r>
            <a:r>
              <a:rPr lang="en-US" altLang="zh-CN">
                <a:sym typeface="+mn-ea"/>
              </a:rPr>
              <a:t> trial </a:t>
            </a:r>
            <a:r>
              <a:rPr lang="zh-CN" altLang="en-US">
                <a:sym typeface="+mn-ea"/>
              </a:rPr>
              <a:t>的保留策略不同。</a:t>
            </a:r>
            <a:endParaRPr lang="zh-CN" altLang="en-US"/>
          </a:p>
          <a:p>
            <a:endParaRPr lang="en-US" altLang="zh-CN"/>
          </a:p>
          <a:p>
            <a:r>
              <a:rPr lang="en-US" altLang="zh-CN">
                <a:sym typeface="+mn-ea"/>
              </a:rPr>
              <a:t>1. </a:t>
            </a:r>
            <a:r>
              <a:rPr lang="zh-CN" altLang="en-US">
                <a:sym typeface="+mn-ea"/>
              </a:rPr>
              <a:t>参数设置上的不同</a:t>
            </a:r>
            <a:endParaRPr lang="zh-CN" altLang="en-US"/>
          </a:p>
          <a:p>
            <a:endParaRPr lang="en-US" altLang="zh-CN"/>
          </a:p>
          <a:p>
            <a:r>
              <a:rPr lang="en-US" altLang="zh-CN">
                <a:sym typeface="+mn-ea"/>
              </a:rPr>
              <a:t>a </a:t>
            </a:r>
            <a:r>
              <a:rPr lang="zh-CN" altLang="en-US">
                <a:sym typeface="+mn-ea"/>
              </a:rPr>
              <a:t>的噪声模型完全不同</a:t>
            </a:r>
            <a:endParaRPr lang="zh-CN" altLang="en-US"/>
          </a:p>
          <a:p>
            <a:r>
              <a:rPr lang="zh-CN" altLang="en-US">
                <a:sym typeface="+mn-ea"/>
              </a:rPr>
              <a:t>旧版：</a:t>
            </a:r>
            <a:endParaRPr lang="zh-CN" altLang="en-US"/>
          </a:p>
          <a:p>
            <a:pPr lvl="1"/>
            <a:r>
              <a:rPr lang="en-US" altLang="zh-CN">
                <a:sym typeface="+mn-ea"/>
              </a:rPr>
              <a:t>compute_a(M) </a:t>
            </a:r>
            <a:r>
              <a:rPr lang="zh-CN" altLang="en-US">
                <a:sym typeface="+mn-ea"/>
              </a:rPr>
              <a:t>里面先做一次</a:t>
            </a:r>
            <a:r>
              <a:rPr lang="en-US" altLang="zh-CN">
                <a:sym typeface="+mn-ea"/>
              </a:rPr>
              <a:t> a = np.random.normal(a_1, 0.5)</a:t>
            </a:r>
            <a:endParaRPr lang="en-US" altLang="zh-CN"/>
          </a:p>
          <a:p>
            <a:pPr lvl="1"/>
            <a:r>
              <a:rPr lang="zh-CN" altLang="en-US">
                <a:sym typeface="+mn-ea"/>
              </a:rPr>
              <a:t>到</a:t>
            </a:r>
            <a:r>
              <a:rPr lang="en-US" altLang="zh-CN">
                <a:sym typeface="+mn-ea"/>
              </a:rPr>
              <a:t> trial </a:t>
            </a:r>
            <a:r>
              <a:rPr lang="zh-CN" altLang="en-US">
                <a:sym typeface="+mn-ea"/>
              </a:rPr>
              <a:t>生成时，又做一次</a:t>
            </a:r>
            <a:r>
              <a:rPr lang="en-US" altLang="zh-CN">
                <a:sym typeface="+mn-ea"/>
              </a:rPr>
              <a:t> a_trial = np.random.normal(a, 1)</a:t>
            </a:r>
            <a:endParaRPr lang="en-US" altLang="zh-CN"/>
          </a:p>
          <a:p>
            <a:pPr lvl="1"/>
            <a:r>
              <a:rPr lang="zh-CN" altLang="en-US">
                <a:sym typeface="+mn-ea"/>
              </a:rPr>
              <a:t>相当于旧版同时有</a:t>
            </a:r>
            <a:r>
              <a:rPr lang="en-US" altLang="zh-CN">
                <a:sym typeface="+mn-ea"/>
              </a:rPr>
              <a:t>“</a:t>
            </a:r>
            <a:r>
              <a:rPr lang="zh-CN" altLang="en-US">
                <a:sym typeface="+mn-ea"/>
              </a:rPr>
              <a:t>被试层</a:t>
            </a:r>
            <a:r>
              <a:rPr lang="en-US" altLang="zh-CN">
                <a:sym typeface="+mn-ea"/>
              </a:rPr>
              <a:t>”</a:t>
            </a:r>
            <a:r>
              <a:rPr lang="zh-CN" altLang="en-US">
                <a:sym typeface="+mn-ea"/>
              </a:rPr>
              <a:t>和</a:t>
            </a:r>
            <a:r>
              <a:rPr lang="en-US" altLang="zh-CN">
                <a:sym typeface="+mn-ea"/>
              </a:rPr>
              <a:t>“trial </a:t>
            </a:r>
            <a:r>
              <a:rPr lang="zh-CN" altLang="en-US">
                <a:sym typeface="+mn-ea"/>
              </a:rPr>
              <a:t>层</a:t>
            </a:r>
            <a:r>
              <a:rPr lang="en-US" altLang="zh-CN">
                <a:sym typeface="+mn-ea"/>
              </a:rPr>
              <a:t>”</a:t>
            </a:r>
            <a:r>
              <a:rPr lang="zh-CN" altLang="en-US">
                <a:sym typeface="+mn-ea"/>
              </a:rPr>
              <a:t>的</a:t>
            </a:r>
            <a:r>
              <a:rPr lang="en-US" altLang="zh-CN">
                <a:sym typeface="+mn-ea"/>
              </a:rPr>
              <a:t> a </a:t>
            </a:r>
            <a:r>
              <a:rPr lang="zh-CN" altLang="en-US">
                <a:sym typeface="+mn-ea"/>
              </a:rPr>
              <a:t>波动，而且</a:t>
            </a:r>
            <a:r>
              <a:rPr lang="en-US" altLang="zh-CN">
                <a:sym typeface="+mn-ea"/>
              </a:rPr>
              <a:t> trial </a:t>
            </a:r>
            <a:r>
              <a:rPr lang="zh-CN" altLang="en-US">
                <a:sym typeface="+mn-ea"/>
              </a:rPr>
              <a:t>层波动很大。</a:t>
            </a:r>
            <a:endParaRPr lang="zh-CN" altLang="en-US"/>
          </a:p>
          <a:p>
            <a:r>
              <a:rPr lang="zh-CN" altLang="en-US">
                <a:sym typeface="+mn-ea"/>
              </a:rPr>
              <a:t>新版：</a:t>
            </a:r>
            <a:endParaRPr lang="zh-CN" altLang="en-US"/>
          </a:p>
          <a:p>
            <a:pPr lvl="1"/>
            <a:r>
              <a:rPr lang="en-US" altLang="zh-CN">
                <a:sym typeface="+mn-ea"/>
              </a:rPr>
              <a:t>compute_a(M) </a:t>
            </a:r>
            <a:r>
              <a:rPr lang="zh-CN" altLang="en-US">
                <a:sym typeface="+mn-ea"/>
              </a:rPr>
              <a:t>是确定性的，只给出</a:t>
            </a:r>
            <a:r>
              <a:rPr lang="en-US" altLang="zh-CN">
                <a:sym typeface="+mn-ea"/>
              </a:rPr>
              <a:t> a_1</a:t>
            </a:r>
            <a:endParaRPr lang="en-US" altLang="zh-CN"/>
          </a:p>
          <a:p>
            <a:pPr lvl="1"/>
            <a:r>
              <a:rPr lang="zh-CN" altLang="en-US">
                <a:sym typeface="+mn-ea"/>
              </a:rPr>
              <a:t>然后在被试层一次性加噪声：</a:t>
            </a:r>
            <a:r>
              <a:rPr lang="en-US" altLang="zh-CN">
                <a:sym typeface="+mn-ea"/>
              </a:rPr>
              <a:t>a ~ Normal(a_base, a_base * A_CV)</a:t>
            </a:r>
            <a:r>
              <a:rPr lang="zh-CN" altLang="en-US">
                <a:sym typeface="+mn-ea"/>
              </a:rPr>
              <a:t>，其中</a:t>
            </a:r>
            <a:r>
              <a:rPr lang="en-US" altLang="zh-CN">
                <a:sym typeface="+mn-ea"/>
              </a:rPr>
              <a:t> A_CV = 0.15</a:t>
            </a:r>
            <a:endParaRPr lang="en-US" altLang="zh-CN"/>
          </a:p>
          <a:p>
            <a:pPr lvl="1"/>
            <a:r>
              <a:rPr lang="zh-CN" altLang="en-US">
                <a:sym typeface="+mn-ea"/>
              </a:rPr>
              <a:t>后续同一个被试的</a:t>
            </a:r>
            <a:r>
              <a:rPr lang="en-US" altLang="zh-CN">
                <a:sym typeface="+mn-ea"/>
              </a:rPr>
              <a:t> trial </a:t>
            </a:r>
            <a:r>
              <a:rPr lang="zh-CN" altLang="en-US">
                <a:sym typeface="+mn-ea"/>
              </a:rPr>
              <a:t>共用这个</a:t>
            </a:r>
            <a:r>
              <a:rPr lang="en-US" altLang="zh-CN">
                <a:sym typeface="+mn-ea"/>
              </a:rPr>
              <a:t> a</a:t>
            </a:r>
            <a:endParaRPr lang="en-US" altLang="zh-CN"/>
          </a:p>
          <a:p>
            <a:pPr lvl="1"/>
            <a:r>
              <a:rPr lang="zh-CN" altLang="en-US">
                <a:sym typeface="+mn-ea"/>
              </a:rPr>
              <a:t>这意味着新版的</a:t>
            </a:r>
            <a:r>
              <a:rPr lang="en-US" altLang="zh-CN">
                <a:sym typeface="+mn-ea"/>
              </a:rPr>
              <a:t> a </a:t>
            </a:r>
            <a:r>
              <a:rPr lang="zh-CN" altLang="en-US">
                <a:sym typeface="+mn-ea"/>
              </a:rPr>
              <a:t>更稳定，也更像</a:t>
            </a:r>
            <a:r>
              <a:rPr lang="en-US" altLang="zh-CN">
                <a:sym typeface="+mn-ea"/>
              </a:rPr>
              <a:t>“</a:t>
            </a:r>
            <a:r>
              <a:rPr lang="zh-CN" altLang="en-US">
                <a:sym typeface="+mn-ea"/>
              </a:rPr>
              <a:t>被试间差异</a:t>
            </a:r>
            <a:r>
              <a:rPr lang="en-US" altLang="zh-CN">
                <a:sym typeface="+mn-ea"/>
              </a:rPr>
              <a:t>”</a:t>
            </a:r>
            <a:r>
              <a:rPr lang="zh-CN" altLang="en-US">
                <a:sym typeface="+mn-ea"/>
              </a:rPr>
              <a:t>；旧版更像</a:t>
            </a:r>
            <a:r>
              <a:rPr lang="en-US" altLang="zh-CN">
                <a:sym typeface="+mn-ea"/>
              </a:rPr>
              <a:t>“</a:t>
            </a:r>
            <a:r>
              <a:rPr lang="zh-CN" altLang="en-US">
                <a:sym typeface="+mn-ea"/>
              </a:rPr>
              <a:t>每个</a:t>
            </a:r>
            <a:r>
              <a:rPr lang="en-US" altLang="zh-CN">
                <a:sym typeface="+mn-ea"/>
              </a:rPr>
              <a:t> trial </a:t>
            </a:r>
            <a:r>
              <a:rPr lang="zh-CN" altLang="en-US">
                <a:sym typeface="+mn-ea"/>
              </a:rPr>
              <a:t>的边界都在乱跳</a:t>
            </a:r>
            <a:r>
              <a:rPr lang="en-US" altLang="zh-CN">
                <a:sym typeface="+mn-ea"/>
              </a:rPr>
              <a:t>”</a:t>
            </a:r>
            <a:r>
              <a:rPr lang="zh-CN" altLang="en-US">
                <a:sym typeface="+mn-ea"/>
              </a:rPr>
              <a:t>。</a:t>
            </a:r>
            <a:endParaRPr lang="zh-CN" altLang="en-US"/>
          </a:p>
          <a:p>
            <a:endParaRPr lang="en-US" altLang="zh-CN"/>
          </a:p>
          <a:p>
            <a:r>
              <a:rPr lang="en-US" altLang="zh-CN">
                <a:sym typeface="+mn-ea"/>
              </a:rPr>
              <a:t>v </a:t>
            </a:r>
            <a:r>
              <a:rPr lang="zh-CN" altLang="en-US">
                <a:sym typeface="+mn-ea"/>
              </a:rPr>
              <a:t>的噪声位置变了，但分布思想基本一致</a:t>
            </a:r>
            <a:endParaRPr lang="zh-CN" altLang="en-US"/>
          </a:p>
          <a:p>
            <a:r>
              <a:rPr lang="zh-CN" altLang="en-US">
                <a:sym typeface="+mn-ea"/>
              </a:rPr>
              <a:t>旧版是在</a:t>
            </a:r>
            <a:r>
              <a:rPr lang="en-US" altLang="zh-CN">
                <a:sym typeface="+mn-ea"/>
              </a:rPr>
              <a:t> compute_v() </a:t>
            </a:r>
            <a:r>
              <a:rPr lang="zh-CN" altLang="en-US">
                <a:sym typeface="+mn-ea"/>
              </a:rPr>
              <a:t>里面直接</a:t>
            </a:r>
            <a:r>
              <a:rPr lang="en-US" altLang="zh-CN">
                <a:sym typeface="+mn-ea"/>
              </a:rPr>
              <a:t> v = np.random.normal(v_1, 1)</a:t>
            </a:r>
            <a:r>
              <a:rPr lang="zh-CN" altLang="en-US">
                <a:sym typeface="+mn-ea"/>
              </a:rPr>
              <a:t>。</a:t>
            </a:r>
            <a:endParaRPr lang="zh-CN" altLang="en-US"/>
          </a:p>
          <a:p>
            <a:r>
              <a:rPr lang="zh-CN" altLang="en-US">
                <a:sym typeface="+mn-ea"/>
              </a:rPr>
              <a:t>新版</a:t>
            </a:r>
            <a:r>
              <a:rPr lang="en-US" altLang="zh-CN">
                <a:sym typeface="+mn-ea"/>
              </a:rPr>
              <a:t> compute_v() </a:t>
            </a:r>
            <a:r>
              <a:rPr lang="zh-CN" altLang="en-US">
                <a:sym typeface="+mn-ea"/>
              </a:rPr>
              <a:t>返回确定性的</a:t>
            </a:r>
            <a:r>
              <a:rPr lang="en-US" altLang="zh-CN">
                <a:sym typeface="+mn-ea"/>
              </a:rPr>
              <a:t> v_1</a:t>
            </a:r>
            <a:r>
              <a:rPr lang="zh-CN" altLang="en-US">
                <a:sym typeface="+mn-ea"/>
              </a:rPr>
              <a:t>，然后在生成</a:t>
            </a:r>
            <a:r>
              <a:rPr lang="en-US" altLang="zh-CN">
                <a:sym typeface="+mn-ea"/>
              </a:rPr>
              <a:t> trial </a:t>
            </a:r>
            <a:r>
              <a:rPr lang="zh-CN" altLang="en-US">
                <a:sym typeface="+mn-ea"/>
              </a:rPr>
              <a:t>时再做</a:t>
            </a:r>
            <a:r>
              <a:rPr lang="en-US" altLang="zh-CN">
                <a:sym typeface="+mn-ea"/>
              </a:rPr>
              <a:t> v = np.random.normal(v, 1)</a:t>
            </a:r>
            <a:r>
              <a:rPr lang="zh-CN" altLang="en-US">
                <a:sym typeface="+mn-ea"/>
              </a:rPr>
              <a:t>。</a:t>
            </a:r>
            <a:endParaRPr lang="zh-CN" altLang="en-US"/>
          </a:p>
          <a:p>
            <a:r>
              <a:rPr lang="zh-CN" altLang="en-US">
                <a:sym typeface="+mn-ea"/>
              </a:rPr>
              <a:t>数学效果接近，但新版把</a:t>
            </a:r>
            <a:r>
              <a:rPr lang="en-US" altLang="zh-CN">
                <a:sym typeface="+mn-ea"/>
              </a:rPr>
              <a:t>“</a:t>
            </a:r>
            <a:r>
              <a:rPr lang="zh-CN" altLang="en-US">
                <a:sym typeface="+mn-ea"/>
              </a:rPr>
              <a:t>参数函数</a:t>
            </a:r>
            <a:r>
              <a:rPr lang="en-US" altLang="zh-CN">
                <a:sym typeface="+mn-ea"/>
              </a:rPr>
              <a:t>”</a:t>
            </a:r>
            <a:r>
              <a:rPr lang="zh-CN" altLang="en-US">
                <a:sym typeface="+mn-ea"/>
              </a:rPr>
              <a:t>和</a:t>
            </a:r>
            <a:r>
              <a:rPr lang="en-US" altLang="zh-CN">
                <a:sym typeface="+mn-ea"/>
              </a:rPr>
              <a:t>“</a:t>
            </a:r>
            <a:r>
              <a:rPr lang="zh-CN" altLang="en-US">
                <a:sym typeface="+mn-ea"/>
              </a:rPr>
              <a:t>随机采样</a:t>
            </a:r>
            <a:r>
              <a:rPr lang="en-US" altLang="zh-CN">
                <a:sym typeface="+mn-ea"/>
              </a:rPr>
              <a:t>”</a:t>
            </a:r>
            <a:r>
              <a:rPr lang="zh-CN" altLang="en-US">
                <a:sym typeface="+mn-ea"/>
              </a:rPr>
              <a:t>拆开了，结构更清楚。可复现性设置更完整</a:t>
            </a:r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563880" y="20828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S2_gen_data_optimized.ipynb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196850" y="890270"/>
            <a:ext cx="11995150" cy="59080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ym typeface="+mn-ea"/>
              </a:rPr>
              <a:t>S2_gen_data_optimized.ipynb </a:t>
            </a:r>
            <a:r>
              <a:rPr lang="zh-CN" altLang="en-US">
                <a:sym typeface="+mn-ea"/>
              </a:rPr>
              <a:t>不是完全换了一个模型，而是在保留</a:t>
            </a:r>
            <a:r>
              <a:rPr lang="en-US" altLang="zh-CN">
                <a:sym typeface="+mn-ea"/>
              </a:rPr>
              <a:t> P/T/W -&gt; v/a -&gt; RT/response </a:t>
            </a:r>
            <a:r>
              <a:rPr lang="zh-CN" altLang="en-US">
                <a:sym typeface="+mn-ea"/>
              </a:rPr>
              <a:t>这条主思路的基础上，修正了部分参数设定，重构了</a:t>
            </a:r>
            <a:r>
              <a:rPr lang="en-US" altLang="zh-CN">
                <a:sym typeface="+mn-ea"/>
              </a:rPr>
              <a:t> a </a:t>
            </a:r>
            <a:r>
              <a:rPr lang="zh-CN" altLang="en-US">
                <a:sym typeface="+mn-ea"/>
              </a:rPr>
              <a:t>的噪声层级，并且把生成流程改成了</a:t>
            </a:r>
            <a:r>
              <a:rPr lang="en-US" altLang="zh-CN">
                <a:sym typeface="+mn-ea"/>
              </a:rPr>
              <a:t>“</a:t>
            </a:r>
            <a:r>
              <a:rPr lang="zh-CN" altLang="en-US">
                <a:sym typeface="+mn-ea"/>
              </a:rPr>
              <a:t>可验证、可并行、可复现</a:t>
            </a:r>
            <a:r>
              <a:rPr lang="en-US" altLang="zh-CN">
                <a:sym typeface="+mn-ea"/>
              </a:rPr>
              <a:t>”</a:t>
            </a:r>
            <a:r>
              <a:rPr lang="zh-CN" altLang="en-US">
                <a:sym typeface="+mn-ea"/>
              </a:rPr>
              <a:t>的版本。真正大的差异主要有两类：参数函数不同，和有效</a:t>
            </a:r>
            <a:r>
              <a:rPr lang="en-US" altLang="zh-CN">
                <a:sym typeface="+mn-ea"/>
              </a:rPr>
              <a:t> trial </a:t>
            </a:r>
            <a:r>
              <a:rPr lang="zh-CN" altLang="en-US">
                <a:sym typeface="+mn-ea"/>
              </a:rPr>
              <a:t>的保留策略不同。</a:t>
            </a:r>
            <a:endParaRPr lang="zh-CN" altLang="en-US"/>
          </a:p>
          <a:p>
            <a:endParaRPr lang="en-US" altLang="zh-CN"/>
          </a:p>
          <a:p>
            <a:r>
              <a:rPr lang="en-US" altLang="zh-CN">
                <a:sym typeface="+mn-ea"/>
              </a:rPr>
              <a:t>2. </a:t>
            </a:r>
            <a:r>
              <a:rPr lang="zh-CN" altLang="en-US">
                <a:sym typeface="+mn-ea"/>
              </a:rPr>
              <a:t>数据生成流程上的差异</a:t>
            </a:r>
            <a:endParaRPr lang="zh-CN" altLang="en-US"/>
          </a:p>
          <a:p>
            <a:endParaRPr lang="en-US" altLang="zh-CN"/>
          </a:p>
          <a:p>
            <a:r>
              <a:rPr lang="zh-CN" altLang="en-US">
                <a:sym typeface="+mn-ea"/>
              </a:rPr>
              <a:t>旧版会</a:t>
            </a:r>
            <a:r>
              <a:rPr lang="en-US" altLang="zh-CN">
                <a:sym typeface="+mn-ea"/>
              </a:rPr>
              <a:t>“</a:t>
            </a:r>
            <a:r>
              <a:rPr lang="zh-CN" altLang="en-US">
                <a:sym typeface="+mn-ea"/>
              </a:rPr>
              <a:t>补足有效</a:t>
            </a:r>
            <a:r>
              <a:rPr lang="en-US" altLang="zh-CN">
                <a:sym typeface="+mn-ea"/>
              </a:rPr>
              <a:t> trial”</a:t>
            </a:r>
            <a:r>
              <a:rPr lang="zh-CN" altLang="en-US">
                <a:sym typeface="+mn-ea"/>
              </a:rPr>
              <a:t>，新版不会</a:t>
            </a:r>
            <a:endParaRPr lang="zh-CN" altLang="en-US"/>
          </a:p>
          <a:p>
            <a:r>
              <a:rPr lang="zh-CN" altLang="en-US">
                <a:sym typeface="+mn-ea"/>
              </a:rPr>
              <a:t>这是最关键的生成差异。</a:t>
            </a:r>
            <a:endParaRPr lang="zh-CN" altLang="en-US"/>
          </a:p>
          <a:p>
            <a:endParaRPr lang="en-US" altLang="zh-CN"/>
          </a:p>
          <a:p>
            <a:r>
              <a:rPr lang="zh-CN" altLang="en-US">
                <a:sym typeface="+mn-ea"/>
              </a:rPr>
              <a:t>旧版在</a:t>
            </a:r>
            <a:r>
              <a:rPr lang="en-US" altLang="zh-CN">
                <a:sym typeface="+mn-ea"/>
              </a:rPr>
              <a:t> S2_gen_data.ipynb </a:t>
            </a:r>
            <a:r>
              <a:rPr lang="zh-CN" altLang="en-US">
                <a:sym typeface="+mn-ea"/>
              </a:rPr>
              <a:t>里用：</a:t>
            </a:r>
            <a:endParaRPr lang="zh-CN" altLang="en-US"/>
          </a:p>
          <a:p>
            <a:r>
              <a:rPr lang="en-US" altLang="zh-CN">
                <a:sym typeface="+mn-ea"/>
              </a:rPr>
              <a:t>while trial_count &lt; trials_per_condition</a:t>
            </a:r>
            <a:endParaRPr lang="en-US" altLang="zh-CN"/>
          </a:p>
          <a:p>
            <a:endParaRPr lang="en-US" altLang="zh-CN"/>
          </a:p>
          <a:p>
            <a:r>
              <a:rPr lang="zh-CN" altLang="en-US">
                <a:sym typeface="+mn-ea"/>
              </a:rPr>
              <a:t>只有</a:t>
            </a:r>
            <a:r>
              <a:rPr lang="en-US" altLang="zh-CN">
                <a:sym typeface="+mn-ea"/>
              </a:rPr>
              <a:t> trial </a:t>
            </a:r>
            <a:r>
              <a:rPr lang="zh-CN" altLang="en-US">
                <a:sym typeface="+mn-ea"/>
              </a:rPr>
              <a:t>有效时才</a:t>
            </a:r>
            <a:r>
              <a:rPr lang="en-US" altLang="zh-CN">
                <a:sym typeface="+mn-ea"/>
              </a:rPr>
              <a:t> trial_count += 1</a:t>
            </a:r>
            <a:r>
              <a:rPr lang="zh-CN" altLang="en-US">
                <a:sym typeface="+mn-ea"/>
              </a:rPr>
              <a:t>，所以它会一直试，直到每个条件攒够目标</a:t>
            </a:r>
            <a:r>
              <a:rPr lang="en-US" altLang="zh-CN">
                <a:sym typeface="+mn-ea"/>
              </a:rPr>
              <a:t> trial </a:t>
            </a:r>
            <a:r>
              <a:rPr lang="zh-CN" altLang="en-US">
                <a:sym typeface="+mn-ea"/>
              </a:rPr>
              <a:t>数。</a:t>
            </a:r>
            <a:endParaRPr lang="zh-CN" altLang="en-US"/>
          </a:p>
          <a:p>
            <a:r>
              <a:rPr lang="zh-CN" altLang="en-US">
                <a:sym typeface="+mn-ea"/>
              </a:rPr>
              <a:t>结果是：每个被试、每个条件的有效</a:t>
            </a:r>
            <a:r>
              <a:rPr lang="en-US" altLang="zh-CN">
                <a:sym typeface="+mn-ea"/>
              </a:rPr>
              <a:t> trial </a:t>
            </a:r>
            <a:r>
              <a:rPr lang="zh-CN" altLang="en-US">
                <a:sym typeface="+mn-ea"/>
              </a:rPr>
              <a:t>数基本固定。</a:t>
            </a:r>
            <a:endParaRPr lang="zh-CN" altLang="en-US"/>
          </a:p>
          <a:p>
            <a:endParaRPr lang="en-US" altLang="zh-CN"/>
          </a:p>
          <a:p>
            <a:r>
              <a:rPr lang="zh-CN" altLang="en-US">
                <a:sym typeface="+mn-ea"/>
              </a:rPr>
              <a:t>新版在</a:t>
            </a:r>
            <a:r>
              <a:rPr lang="en-US" altLang="zh-CN">
                <a:sym typeface="+mn-ea"/>
              </a:rPr>
              <a:t> S2_gen_data_optimized.ipynb </a:t>
            </a:r>
            <a:r>
              <a:rPr lang="zh-CN" altLang="en-US">
                <a:sym typeface="+mn-ea"/>
              </a:rPr>
              <a:t>里是：</a:t>
            </a:r>
            <a:endParaRPr lang="zh-CN" altLang="en-US"/>
          </a:p>
          <a:p>
            <a:r>
              <a:rPr lang="en-US" altLang="zh-CN">
                <a:sym typeface="+mn-ea"/>
              </a:rPr>
              <a:t>for trial in range(trials_per_condition)</a:t>
            </a:r>
            <a:endParaRPr lang="en-US" altLang="zh-CN"/>
          </a:p>
          <a:p>
            <a:r>
              <a:rPr lang="zh-CN" altLang="en-US">
                <a:sym typeface="+mn-ea"/>
              </a:rPr>
              <a:t>如果</a:t>
            </a:r>
            <a:r>
              <a:rPr lang="en-US" altLang="zh-CN">
                <a:sym typeface="+mn-ea"/>
              </a:rPr>
              <a:t> trial </a:t>
            </a:r>
            <a:r>
              <a:rPr lang="zh-CN" altLang="en-US">
                <a:sym typeface="+mn-ea"/>
              </a:rPr>
              <a:t>无效，就直接丢弃，不重试。</a:t>
            </a:r>
            <a:endParaRPr lang="zh-CN" altLang="en-US"/>
          </a:p>
          <a:p>
            <a:r>
              <a:rPr lang="zh-CN" altLang="en-US">
                <a:sym typeface="+mn-ea"/>
              </a:rPr>
              <a:t>结果是：最终每个被试、每个条件保留下来的行数可能少于计划值，而且不同条件之间会不完全一样。</a:t>
            </a:r>
            <a:endParaRPr lang="zh-CN" altLang="en-US"/>
          </a:p>
          <a:p>
            <a:endParaRPr lang="en-US" altLang="zh-CN"/>
          </a:p>
          <a:p>
            <a:r>
              <a:rPr lang="zh-CN" altLang="en-US">
                <a:sym typeface="+mn-ea"/>
              </a:rPr>
              <a:t>这个差异会直接影响后续的均值、准确率、</a:t>
            </a:r>
            <a:r>
              <a:rPr lang="en-US" altLang="zh-CN">
                <a:sym typeface="+mn-ea"/>
              </a:rPr>
              <a:t>Cohen's d</a:t>
            </a:r>
            <a:r>
              <a:rPr lang="zh-CN" altLang="en-US">
                <a:sym typeface="+mn-ea"/>
              </a:rPr>
              <a:t>，甚至设计空间表面的平滑程度。</a:t>
            </a:r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3194</Words>
  <Application>WPS 演示</Application>
  <PresentationFormat>宽屏</PresentationFormat>
  <Paragraphs>125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4" baseType="lpstr">
      <vt:lpstr>Arial</vt:lpstr>
      <vt:lpstr>宋体</vt:lpstr>
      <vt:lpstr>Wingdings</vt:lpstr>
      <vt:lpstr>微软雅黑</vt:lpstr>
      <vt:lpstr>Calibri</vt:lpstr>
      <vt:lpstr>Arial Unicode MS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zx C</dc:creator>
  <cp:lastModifiedBy>蔡振辛</cp:lastModifiedBy>
  <cp:revision>16</cp:revision>
  <dcterms:created xsi:type="dcterms:W3CDTF">2023-08-09T12:44:00Z</dcterms:created>
  <dcterms:modified xsi:type="dcterms:W3CDTF">2026-03-23T07:20:05Z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10EC5903926A429EBA5E95FCAFDDBA91_12</vt:lpwstr>
  </property>
</Properties>
</file>