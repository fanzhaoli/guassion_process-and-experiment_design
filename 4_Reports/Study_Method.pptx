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8" r:id="rId4"/>
    <p:sldId id="259" r:id="rId5"/>
    <p:sldId id="260" r:id="rId6"/>
    <p:sldId id="261" r:id="rId7"/>
    <p:sldId id="262" r:id="rId8"/>
    <p:sldId id="263" r:id="rId9"/>
    <p:sldId id="257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5" userDrawn="1">
          <p15:clr>
            <a:srgbClr val="A4A3A4"/>
          </p15:clr>
        </p15:guide>
        <p15:guide id="2" pos="383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55"/>
        <p:guide pos="38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525780" y="429260"/>
            <a:ext cx="11115040" cy="28613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研究具体方法【思路篇】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一、生成模型的检验【</a:t>
            </a:r>
            <a:r>
              <a:rPr lang="en-US" altLang="zh-CN"/>
              <a:t>model checking</a:t>
            </a:r>
            <a:r>
              <a:rPr lang="zh-CN" altLang="en-US"/>
              <a:t>】</a:t>
            </a:r>
            <a:endParaRPr lang="en-US" altLang="zh-CN"/>
          </a:p>
          <a:p>
            <a:r>
              <a:rPr lang="en-US" altLang="zh-CN"/>
              <a:t>1.</a:t>
            </a:r>
            <a:r>
              <a:rPr lang="zh-CN" altLang="en-US"/>
              <a:t>模型的有效性分析（模型是否能按照</a:t>
            </a:r>
            <a:r>
              <a:rPr lang="zh-CN" altLang="en-US">
                <a:solidFill>
                  <a:srgbClr val="FF0000"/>
                </a:solidFill>
              </a:rPr>
              <a:t>预期</a:t>
            </a:r>
            <a:r>
              <a:rPr lang="zh-CN" altLang="en-US"/>
              <a:t>生成数据）【检查模型生成是否按照我们预想进行】</a:t>
            </a:r>
            <a:endParaRPr lang="zh-CN" altLang="en-US"/>
          </a:p>
          <a:p>
            <a:r>
              <a:rPr lang="en-US" altLang="zh-CN"/>
              <a:t>2.</a:t>
            </a:r>
            <a:r>
              <a:rPr lang="zh-CN" altLang="en-US"/>
              <a:t>模型与真实数据的差异分析（模型是否能很好的</a:t>
            </a:r>
            <a:r>
              <a:rPr lang="zh-CN" altLang="en-US">
                <a:solidFill>
                  <a:srgbClr val="FF0000"/>
                </a:solidFill>
              </a:rPr>
              <a:t>捕捉</a:t>
            </a:r>
            <a:r>
              <a:rPr lang="zh-CN" altLang="en-US"/>
              <a:t>真实被试的实际反应情况）【模型的解释力与捕捉能力】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二、行为实验分析</a:t>
            </a:r>
            <a:endParaRPr lang="zh-CN" altLang="en-US"/>
          </a:p>
          <a:p>
            <a:r>
              <a:rPr lang="en-US" altLang="zh-CN"/>
              <a:t>1.</a:t>
            </a:r>
            <a:r>
              <a:rPr lang="zh-CN" altLang="en-US"/>
              <a:t>验证不同实验设计空间能对</a:t>
            </a:r>
            <a:r>
              <a:rPr lang="en-US" altLang="zh-CN"/>
              <a:t>SPE</a:t>
            </a:r>
            <a:r>
              <a:rPr lang="zh-CN" altLang="en-US"/>
              <a:t>产生影响</a:t>
            </a:r>
            <a:endParaRPr lang="zh-CN" altLang="en-US"/>
          </a:p>
          <a:p>
            <a:r>
              <a:rPr lang="en-US" altLang="zh-CN"/>
              <a:t>2.</a:t>
            </a:r>
            <a:r>
              <a:rPr lang="zh-CN" altLang="en-US"/>
              <a:t>探索交互作用</a:t>
            </a:r>
            <a:endParaRPr lang="zh-CN" altLang="en-US"/>
          </a:p>
          <a:p>
            <a:r>
              <a:rPr lang="en-US" altLang="zh-CN"/>
              <a:t>3.</a:t>
            </a:r>
            <a:r>
              <a:rPr lang="zh-CN" altLang="en-US"/>
              <a:t>使用</a:t>
            </a:r>
            <a:r>
              <a:rPr lang="en-US" altLang="zh-CN"/>
              <a:t>GP</a:t>
            </a:r>
            <a:r>
              <a:rPr lang="zh-CN" altLang="en-US"/>
              <a:t>研究其边界（</a:t>
            </a:r>
            <a:r>
              <a:rPr lang="en-US" altLang="zh-CN"/>
              <a:t>SPE</a:t>
            </a:r>
            <a:r>
              <a:rPr lang="zh-CN" altLang="en-US"/>
              <a:t>产生、消失的实验设计空间参数组）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525780" y="429260"/>
            <a:ext cx="11115040" cy="5984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研究具体方法【思路篇】</a:t>
            </a:r>
            <a:endParaRPr lang="zh-CN" altLang="en-US"/>
          </a:p>
          <a:p>
            <a:pPr algn="ctr"/>
            <a:r>
              <a:rPr lang="zh-CN" altLang="en-US">
                <a:highlight>
                  <a:srgbClr val="FFFF00"/>
                </a:highlight>
                <a:sym typeface="+mn-ea"/>
              </a:rPr>
              <a:t>实验设计空间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Ω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潜在心理参数（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DDM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行为数据（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RT, ACC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endParaRPr lang="zh-CN" altLang="en-US"/>
          </a:p>
          <a:p>
            <a:r>
              <a:rPr lang="zh-CN" altLang="en-US"/>
              <a:t>一、生成模型的检验【</a:t>
            </a:r>
            <a:r>
              <a:rPr lang="en-US" altLang="zh-CN"/>
              <a:t>model checking</a:t>
            </a:r>
            <a:r>
              <a:rPr lang="zh-CN" altLang="en-US"/>
              <a:t>】</a:t>
            </a:r>
            <a:r>
              <a:rPr lang="en-US" altLang="zh-CN"/>
              <a:t>  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模型在多层级、多统计量、多不确定性条件下，是否能生成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“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看起来像人类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”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的数据</a:t>
            </a:r>
            <a:endParaRPr lang="zh-CN" altLang="en-US">
              <a:gradFill>
                <a:gsLst>
                  <a:gs pos="50000">
                    <a:schemeClr val="accent2"/>
                  </a:gs>
                  <a:gs pos="0">
                    <a:schemeClr val="accent2">
                      <a:lumMod val="25000"/>
                      <a:lumOff val="75000"/>
                    </a:schemeClr>
                  </a:gs>
                  <a:gs pos="100000">
                    <a:schemeClr val="accent2">
                      <a:lumMod val="85000"/>
                    </a:schemeClr>
                  </a:gs>
                </a:gsLst>
                <a:lin ang="5400000" scaled="1"/>
              </a:gradFill>
            </a:endParaRPr>
          </a:p>
          <a:p>
            <a:endParaRPr lang="zh-CN" altLang="en-US"/>
          </a:p>
          <a:p>
            <a:r>
              <a:rPr lang="en-US" altLang="zh-CN"/>
              <a:t>1.</a:t>
            </a:r>
            <a:r>
              <a:rPr lang="zh-CN" altLang="en-US"/>
              <a:t>模型的有效性分析（模型是否能按照</a:t>
            </a:r>
            <a:r>
              <a:rPr lang="zh-CN" altLang="en-US">
                <a:solidFill>
                  <a:srgbClr val="FF0000"/>
                </a:solidFill>
              </a:rPr>
              <a:t>预期</a:t>
            </a:r>
            <a:r>
              <a:rPr lang="zh-CN" altLang="en-US"/>
              <a:t>生成数据）【检查模型生成是否按照我们预想进行】</a:t>
            </a:r>
            <a:endParaRPr lang="zh-CN" altLang="en-US"/>
          </a:p>
          <a:p>
            <a:pPr algn="ctr"/>
            <a:endParaRPr lang="zh-CN" altLang="en-US">
              <a:highlight>
                <a:srgbClr val="C0C0C0"/>
              </a:highlight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/>
              <a:t>Layer 1</a:t>
            </a:r>
            <a:r>
              <a:rPr lang="zh-CN" altLang="en-US"/>
              <a:t>：分布层检验</a:t>
            </a:r>
            <a:r>
              <a:rPr lang="en-US" altLang="zh-CN"/>
              <a:t>	</a:t>
            </a:r>
            <a:r>
              <a:rPr lang="zh-CN" altLang="en-US">
                <a:highlight>
                  <a:srgbClr val="C0C0C0"/>
                </a:highlight>
              </a:rPr>
              <a:t>模型生成的数据，在最基本的统计结构上是否合理？</a:t>
            </a:r>
            <a:endParaRPr lang="zh-CN" altLang="en-US">
              <a:highlight>
                <a:srgbClr val="C0C0C0"/>
              </a:highlight>
            </a:endParaRPr>
          </a:p>
          <a:p>
            <a:pPr marL="800100" lvl="1" indent="-342900" algn="l">
              <a:buAutoNum type="arabicPeriod"/>
            </a:pPr>
            <a:r>
              <a:rPr lang="en-US" altLang="zh-CN"/>
              <a:t>RT </a:t>
            </a:r>
            <a:r>
              <a:rPr lang="zh-CN" altLang="en-US"/>
              <a:t>分布形态（右偏、长尾、</a:t>
            </a:r>
            <a:r>
              <a:rPr lang="en-US" altLang="zh-CN"/>
              <a:t>0-2s</a:t>
            </a:r>
            <a:r>
              <a:rPr lang="zh-CN" altLang="en-US"/>
              <a:t>内）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zh-CN" altLang="en-US"/>
              <a:t>正确</a:t>
            </a:r>
            <a:r>
              <a:rPr lang="en-US" altLang="zh-CN"/>
              <a:t>/</a:t>
            </a:r>
            <a:r>
              <a:rPr lang="zh-CN" altLang="en-US"/>
              <a:t>错误反应比例（天花板、地板效应）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zh-CN" altLang="en-US"/>
              <a:t>条件差异（</a:t>
            </a:r>
            <a:r>
              <a:rPr lang="en-US" altLang="zh-CN"/>
              <a:t>Self vs Other, Matching vs Nonmatching</a:t>
            </a:r>
            <a:r>
              <a:rPr lang="zh-CN" altLang="en-US"/>
              <a:t>）</a:t>
            </a:r>
            <a:endParaRPr lang="zh-CN" altLang="en-US"/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zh-CN" altLang="en-US"/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/>
              <a:t>Layer 2</a:t>
            </a:r>
            <a:r>
              <a:rPr lang="zh-CN" altLang="en-US"/>
              <a:t>：效应层检验</a:t>
            </a:r>
            <a:r>
              <a:rPr lang="en-US" altLang="zh-CN"/>
              <a:t>	</a:t>
            </a:r>
            <a:r>
              <a:rPr lang="zh-CN" altLang="en-US">
                <a:highlight>
                  <a:srgbClr val="C0C0C0"/>
                </a:highlight>
              </a:rPr>
              <a:t>模型是否能</a:t>
            </a:r>
            <a:r>
              <a:rPr lang="en-US" altLang="zh-CN">
                <a:highlight>
                  <a:srgbClr val="C0C0C0"/>
                </a:highlight>
              </a:rPr>
              <a:t>“</a:t>
            </a:r>
            <a:r>
              <a:rPr lang="zh-CN" altLang="en-US">
                <a:highlight>
                  <a:srgbClr val="C0C0C0"/>
                </a:highlight>
              </a:rPr>
              <a:t>自然地产生</a:t>
            </a:r>
            <a:r>
              <a:rPr lang="en-US" altLang="zh-CN">
                <a:highlight>
                  <a:srgbClr val="C0C0C0"/>
                </a:highlight>
              </a:rPr>
              <a:t>”</a:t>
            </a:r>
            <a:r>
              <a:rPr lang="zh-CN" altLang="en-US">
                <a:highlight>
                  <a:srgbClr val="C0C0C0"/>
                </a:highlight>
              </a:rPr>
              <a:t>我们关心的心理效应？</a:t>
            </a:r>
            <a:endParaRPr lang="zh-CN" altLang="en-US"/>
          </a:p>
          <a:p>
            <a:pPr marL="800100" lvl="1" indent="-342900" algn="l">
              <a:buFont typeface="Arial" panose="020B0604020202020204" pitchFamily="34" charset="0"/>
              <a:buAutoNum type="arabicPeriod"/>
            </a:pPr>
            <a:r>
              <a:rPr lang="en-US" altLang="zh-CN"/>
              <a:t>SPE</a:t>
            </a:r>
            <a:r>
              <a:rPr lang="zh-CN" altLang="en-US"/>
              <a:t>（</a:t>
            </a:r>
            <a:r>
              <a:rPr lang="en-US" altLang="zh-CN"/>
              <a:t>RT/ACC)</a:t>
            </a:r>
            <a:r>
              <a:rPr lang="zh-CN" altLang="en-US"/>
              <a:t>【使用</a:t>
            </a:r>
            <a:r>
              <a:rPr lang="en-US" altLang="zh-CN"/>
              <a:t>Cohens‘d</a:t>
            </a:r>
            <a:r>
              <a:rPr lang="zh-CN" altLang="en-US"/>
              <a:t>】</a:t>
            </a:r>
            <a:endParaRPr lang="zh-CN" altLang="en-US"/>
          </a:p>
          <a:p>
            <a:pPr marL="800100" lvl="1" indent="-342900" algn="l">
              <a:buFont typeface="Arial" panose="020B0604020202020204" pitchFamily="34" charset="0"/>
              <a:buAutoNum type="arabicPeriod"/>
            </a:pPr>
            <a:r>
              <a:rPr lang="zh-CN" altLang="en-US"/>
              <a:t>不同</a:t>
            </a:r>
            <a:r>
              <a:rPr lang="en-US" altLang="zh-CN"/>
              <a:t> </a:t>
            </a:r>
            <a:r>
              <a:rPr lang="zh-CN" altLang="en-US"/>
              <a:t>实验设计空间参数</a:t>
            </a:r>
            <a:r>
              <a:rPr lang="zh-CN" altLang="en-US"/>
              <a:t>组合下效应是否：增强、减弱、消失、反转</a:t>
            </a:r>
            <a:endParaRPr lang="zh-CN" altLang="en-US"/>
          </a:p>
          <a:p>
            <a:pPr marL="800100" lvl="1" indent="-342900" algn="l">
              <a:buFont typeface="Arial" panose="020B0604020202020204" pitchFamily="34" charset="0"/>
              <a:buAutoNum type="arabicPeriod"/>
            </a:pPr>
            <a:endParaRPr lang="zh-CN" altLang="en-US"/>
          </a:p>
          <a:p>
            <a:pPr marL="285750" lvl="0" indent="-285750" algn="l">
              <a:buFont typeface="Wingdings" panose="05000000000000000000" charset="0"/>
              <a:buChar char="Ø"/>
            </a:pPr>
            <a:r>
              <a:rPr lang="en-US" altLang="zh-CN"/>
              <a:t>Layer 3</a:t>
            </a:r>
            <a:r>
              <a:rPr lang="zh-CN" altLang="en-US"/>
              <a:t>：结构层检验</a:t>
            </a:r>
            <a:r>
              <a:rPr lang="en-US" altLang="zh-CN"/>
              <a:t>	</a:t>
            </a:r>
            <a:r>
              <a:rPr lang="zh-CN" altLang="en-US">
                <a:highlight>
                  <a:srgbClr val="C0C0C0"/>
                </a:highlight>
              </a:rPr>
              <a:t>模型的心理机制是否稳定、可解释、不过拟合？</a:t>
            </a:r>
            <a:endParaRPr lang="zh-CN" altLang="en-US">
              <a:highlight>
                <a:srgbClr val="C0C0C0"/>
              </a:highlight>
            </a:endParaRPr>
          </a:p>
          <a:p>
            <a:pPr marL="800100" lvl="1" indent="-342900" algn="l">
              <a:buAutoNum type="arabicPeriod"/>
            </a:pPr>
            <a:r>
              <a:rPr lang="zh-CN" altLang="en-US"/>
              <a:t>参数恢复（</a:t>
            </a:r>
            <a:r>
              <a:rPr lang="en-US" altLang="zh-CN"/>
              <a:t>parameter recovery</a:t>
            </a:r>
            <a:r>
              <a:rPr lang="zh-CN" altLang="en-US"/>
              <a:t>）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zh-CN" altLang="en-US"/>
              <a:t>噪声鲁棒性（</a:t>
            </a:r>
            <a:r>
              <a:rPr lang="en-US" altLang="zh-CN"/>
              <a:t>noise robustness</a:t>
            </a:r>
            <a:r>
              <a:rPr lang="zh-CN" altLang="en-US"/>
              <a:t>）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en-US" altLang="zh-CN"/>
              <a:t>GP </a:t>
            </a:r>
            <a:r>
              <a:rPr lang="zh-CN" altLang="en-US"/>
              <a:t>是否只是</a:t>
            </a:r>
            <a:r>
              <a:rPr lang="en-US" altLang="zh-CN"/>
              <a:t>“</a:t>
            </a:r>
            <a:r>
              <a:rPr lang="zh-CN" altLang="en-US"/>
              <a:t>插值</a:t>
            </a:r>
            <a:r>
              <a:rPr lang="en-US" altLang="zh-CN"/>
              <a:t>”</a:t>
            </a:r>
            <a:r>
              <a:rPr lang="zh-CN" altLang="en-US"/>
              <a:t>，还是有心理意义的不确定性建模</a:t>
            </a:r>
            <a:endParaRPr lang="zh-CN" altLang="en-US"/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zh-CN" altLang="en-US"/>
          </a:p>
          <a:p>
            <a:r>
              <a:rPr lang="en-US" altLang="zh-CN"/>
              <a:t>2.</a:t>
            </a:r>
            <a:r>
              <a:rPr lang="zh-CN" altLang="en-US"/>
              <a:t>模型与真实数据的差异分析（模型是否能很好的</a:t>
            </a:r>
            <a:r>
              <a:rPr lang="zh-CN" altLang="en-US">
                <a:solidFill>
                  <a:srgbClr val="FF0000"/>
                </a:solidFill>
              </a:rPr>
              <a:t>捕捉</a:t>
            </a:r>
            <a:r>
              <a:rPr lang="zh-CN" altLang="en-US"/>
              <a:t>真实被试的实际反应情况）【模型的解释力与捕捉能力】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525780" y="429260"/>
            <a:ext cx="11115040" cy="5984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研究具体方法【参考文献篇】</a:t>
            </a:r>
            <a:endParaRPr lang="zh-CN" altLang="en-US"/>
          </a:p>
          <a:p>
            <a:pPr algn="ctr"/>
            <a:r>
              <a:rPr lang="zh-CN" altLang="en-US">
                <a:highlight>
                  <a:srgbClr val="FFFF00"/>
                </a:highlight>
                <a:sym typeface="+mn-ea"/>
              </a:rPr>
              <a:t>实验设计空间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Ω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潜在心理参数（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DDM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行为数据（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RT, ACC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endParaRPr lang="zh-CN" altLang="en-US"/>
          </a:p>
          <a:p>
            <a:r>
              <a:rPr lang="zh-CN" altLang="en-US"/>
              <a:t>一、生成模型的检验【</a:t>
            </a:r>
            <a:r>
              <a:rPr lang="en-US" altLang="zh-CN"/>
              <a:t>model checking</a:t>
            </a:r>
            <a:r>
              <a:rPr lang="zh-CN" altLang="en-US"/>
              <a:t>】</a:t>
            </a:r>
            <a:r>
              <a:rPr lang="en-US" altLang="zh-CN"/>
              <a:t>  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模型在多层级、多统计量、多不确定性条件下，是否能生成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“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看起来像人类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”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的数据</a:t>
            </a:r>
            <a:endParaRPr lang="zh-CN" altLang="en-US">
              <a:gradFill>
                <a:gsLst>
                  <a:gs pos="50000">
                    <a:schemeClr val="accent2"/>
                  </a:gs>
                  <a:gs pos="0">
                    <a:schemeClr val="accent2">
                      <a:lumMod val="25000"/>
                      <a:lumOff val="75000"/>
                    </a:schemeClr>
                  </a:gs>
                  <a:gs pos="100000">
                    <a:schemeClr val="accent2">
                      <a:lumMod val="85000"/>
                    </a:schemeClr>
                  </a:gs>
                </a:gsLst>
                <a:lin ang="5400000" scaled="1"/>
              </a:gradFill>
            </a:endParaRPr>
          </a:p>
          <a:p>
            <a:endParaRPr lang="zh-CN" altLang="en-US"/>
          </a:p>
          <a:p>
            <a:r>
              <a:rPr lang="en-US" altLang="zh-CN"/>
              <a:t>1.</a:t>
            </a:r>
            <a:r>
              <a:rPr lang="zh-CN" altLang="en-US"/>
              <a:t>模型的有效性分析（模型是否能按照</a:t>
            </a:r>
            <a:r>
              <a:rPr lang="zh-CN" altLang="en-US">
                <a:solidFill>
                  <a:srgbClr val="FF0000"/>
                </a:solidFill>
              </a:rPr>
              <a:t>预期</a:t>
            </a:r>
            <a:r>
              <a:rPr lang="zh-CN" altLang="en-US"/>
              <a:t>生成数据）【检查模型生成是否按照我们预想进行】</a:t>
            </a:r>
            <a:r>
              <a:rPr lang="en-US" altLang="zh-CN"/>
              <a:t> </a:t>
            </a:r>
            <a:r>
              <a:rPr lang="zh-CN" altLang="en-US"/>
              <a:t>参考文献</a:t>
            </a:r>
            <a:endParaRPr lang="zh-CN" altLang="en-US"/>
          </a:p>
          <a:p>
            <a:pPr algn="ctr"/>
            <a:endParaRPr lang="zh-CN" altLang="en-US">
              <a:highlight>
                <a:srgbClr val="C0C0C0"/>
              </a:highlight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zh-CN" altLang="en-US"/>
              <a:t>第一类：</a:t>
            </a:r>
            <a:r>
              <a:rPr lang="en-US" altLang="zh-CN"/>
              <a:t>Posterior / Prior Predictive Checks</a:t>
            </a:r>
            <a:r>
              <a:rPr lang="zh-CN" altLang="en-US"/>
              <a:t>（分布一致性）</a:t>
            </a:r>
            <a:endParaRPr lang="zh-CN" altLang="en-US"/>
          </a:p>
          <a:p>
            <a:pPr indent="457200" algn="ctr">
              <a:buNone/>
            </a:pPr>
            <a:r>
              <a:rPr lang="zh-CN" altLang="en-US">
                <a:highlight>
                  <a:srgbClr val="C0C0C0"/>
                </a:highlight>
              </a:rPr>
              <a:t>这个模型，是否能生成在统计分布层面</a:t>
            </a:r>
            <a:r>
              <a:rPr lang="en-US" altLang="zh-CN">
                <a:highlight>
                  <a:srgbClr val="C0C0C0"/>
                </a:highlight>
              </a:rPr>
              <a:t>“</a:t>
            </a:r>
            <a:r>
              <a:rPr lang="zh-CN" altLang="en-US">
                <a:highlight>
                  <a:srgbClr val="C0C0C0"/>
                </a:highlight>
              </a:rPr>
              <a:t>看起来像真实数据</a:t>
            </a:r>
            <a:r>
              <a:rPr lang="en-US" altLang="zh-CN">
                <a:highlight>
                  <a:srgbClr val="C0C0C0"/>
                </a:highlight>
              </a:rPr>
              <a:t>”</a:t>
            </a:r>
            <a:r>
              <a:rPr lang="zh-CN" altLang="en-US">
                <a:highlight>
                  <a:srgbClr val="C0C0C0"/>
                </a:highlight>
              </a:rPr>
              <a:t>的数据？</a:t>
            </a:r>
            <a:r>
              <a:rPr lang="en-US" altLang="zh-CN">
                <a:highlight>
                  <a:srgbClr val="C0C0C0"/>
                </a:highlight>
              </a:rPr>
              <a:t>	</a:t>
            </a:r>
            <a:endParaRPr lang="zh-CN" altLang="en-US">
              <a:highlight>
                <a:srgbClr val="C0C0C0"/>
              </a:highlight>
            </a:endParaRPr>
          </a:p>
          <a:p>
            <a:pPr marL="800100" lvl="1" indent="-342900" algn="l">
              <a:buAutoNum type="arabicPeriod"/>
            </a:pPr>
            <a:r>
              <a:rPr lang="en-US" altLang="zh-CN"/>
              <a:t>Gelman, A., Carlin, J. B., Stern, H. S., Dunson, D. B., Vehtari, A., &amp; Rubin, D. B. (2013).Bayesian data analysis (3rd ed.). Boca Raton, FL: CRC Press.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en-US" altLang="zh-CN"/>
              <a:t>Gelman, A., Vehtari, A., Simpson, D., Margossian, C. C., Carpenter, B., Yao, Y., … Modr</a:t>
            </a:r>
            <a:r>
              <a:rPr lang="en-US" altLang="en-US"/>
              <a:t>á</a:t>
            </a:r>
            <a:r>
              <a:rPr lang="en-US" altLang="zh-CN"/>
              <a:t>k, M. (2020).Bayesian workflow. arXiv preprint arXiv:2011.01808.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en-US" altLang="zh-CN"/>
              <a:t>Brown, S. D., &amp; Heathcote, A. (2008).The simplest complete model of choice response time: Linear ballistic accumulation.Cognitive Psychology, 57(3), 153–178. https://doi.org/10.1016/j.cogpsych.2007.12.002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en-US" altLang="zh-CN"/>
              <a:t>Lee, M. D., &amp; Wagenmakers, E.-J. (2013).Bayesian cognitive modeling: A practical course. Cambridge: Cambridge University Press.</a:t>
            </a:r>
            <a:endParaRPr lang="en-US" altLang="zh-CN"/>
          </a:p>
          <a:p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525780" y="429260"/>
            <a:ext cx="11115040" cy="5984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研究具体方法【</a:t>
            </a:r>
            <a:r>
              <a:rPr lang="zh-CN" altLang="en-US">
                <a:sym typeface="+mn-ea"/>
              </a:rPr>
              <a:t>参考文献篇</a:t>
            </a:r>
            <a:r>
              <a:rPr lang="zh-CN" altLang="en-US"/>
              <a:t>】</a:t>
            </a:r>
            <a:endParaRPr lang="zh-CN" altLang="en-US"/>
          </a:p>
          <a:p>
            <a:pPr algn="ctr"/>
            <a:r>
              <a:rPr lang="zh-CN" altLang="en-US">
                <a:highlight>
                  <a:srgbClr val="FFFF00"/>
                </a:highlight>
                <a:sym typeface="+mn-ea"/>
              </a:rPr>
              <a:t>实验设计空间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Ω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潜在心理参数（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DDM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行为数据（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RT, ACC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endParaRPr lang="zh-CN" altLang="en-US"/>
          </a:p>
          <a:p>
            <a:r>
              <a:rPr lang="zh-CN" altLang="en-US"/>
              <a:t>一、生成模型的检验【</a:t>
            </a:r>
            <a:r>
              <a:rPr lang="en-US" altLang="zh-CN"/>
              <a:t>model checking</a:t>
            </a:r>
            <a:r>
              <a:rPr lang="zh-CN" altLang="en-US"/>
              <a:t>】</a:t>
            </a:r>
            <a:r>
              <a:rPr lang="en-US" altLang="zh-CN"/>
              <a:t>  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模型在多层级、多统计量、多不确定性条件下，是否能生成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“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看起来像人类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”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的数据</a:t>
            </a:r>
            <a:endParaRPr lang="zh-CN" altLang="en-US">
              <a:gradFill>
                <a:gsLst>
                  <a:gs pos="50000">
                    <a:schemeClr val="accent2"/>
                  </a:gs>
                  <a:gs pos="0">
                    <a:schemeClr val="accent2">
                      <a:lumMod val="25000"/>
                      <a:lumOff val="75000"/>
                    </a:schemeClr>
                  </a:gs>
                  <a:gs pos="100000">
                    <a:schemeClr val="accent2">
                      <a:lumMod val="85000"/>
                    </a:schemeClr>
                  </a:gs>
                </a:gsLst>
                <a:lin ang="5400000" scaled="1"/>
              </a:gradFill>
            </a:endParaRPr>
          </a:p>
          <a:p>
            <a:endParaRPr lang="zh-CN" altLang="en-US"/>
          </a:p>
          <a:p>
            <a:r>
              <a:rPr lang="en-US" altLang="zh-CN"/>
              <a:t>1.</a:t>
            </a:r>
            <a:r>
              <a:rPr lang="zh-CN" altLang="en-US"/>
              <a:t>模型的有效性分析（模型是否能按照</a:t>
            </a:r>
            <a:r>
              <a:rPr lang="zh-CN" altLang="en-US">
                <a:solidFill>
                  <a:srgbClr val="FF0000"/>
                </a:solidFill>
              </a:rPr>
              <a:t>预期</a:t>
            </a:r>
            <a:r>
              <a:rPr lang="zh-CN" altLang="en-US"/>
              <a:t>生成数据）【检查模型生成是否按照我们预想进行】</a:t>
            </a:r>
            <a:r>
              <a:rPr lang="en-US" altLang="zh-CN"/>
              <a:t> </a:t>
            </a:r>
            <a:r>
              <a:rPr lang="zh-CN" altLang="en-US"/>
              <a:t>参考文献</a:t>
            </a:r>
            <a:endParaRPr lang="zh-CN" altLang="en-US"/>
          </a:p>
          <a:p>
            <a:pPr algn="ctr"/>
            <a:endParaRPr lang="zh-CN" altLang="en-US">
              <a:highlight>
                <a:srgbClr val="C0C0C0"/>
              </a:highlight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zh-CN" altLang="en-US"/>
              <a:t>第二类：</a:t>
            </a:r>
            <a:r>
              <a:rPr lang="en-US" altLang="zh-CN"/>
              <a:t>Effect-level checks</a:t>
            </a:r>
            <a:r>
              <a:rPr lang="zh-CN" altLang="en-US"/>
              <a:t>（心理效应是否自然涌现）</a:t>
            </a:r>
            <a:endParaRPr lang="zh-CN" altLang="en-US"/>
          </a:p>
          <a:p>
            <a:pPr indent="457200" algn="ctr">
              <a:buNone/>
            </a:pPr>
            <a:r>
              <a:rPr lang="zh-CN" altLang="en-US">
                <a:highlight>
                  <a:srgbClr val="C0C0C0"/>
                </a:highlight>
              </a:rPr>
              <a:t>模型是否在</a:t>
            </a:r>
            <a:r>
              <a:rPr lang="en-US" altLang="zh-CN">
                <a:highlight>
                  <a:srgbClr val="C0C0C0"/>
                </a:highlight>
              </a:rPr>
              <a:t>“</a:t>
            </a:r>
            <a:r>
              <a:rPr lang="zh-CN" altLang="en-US">
                <a:highlight>
                  <a:srgbClr val="C0C0C0"/>
                </a:highlight>
              </a:rPr>
              <a:t>没有强行编码</a:t>
            </a:r>
            <a:r>
              <a:rPr lang="en-US" altLang="zh-CN">
                <a:highlight>
                  <a:srgbClr val="C0C0C0"/>
                </a:highlight>
              </a:rPr>
              <a:t>”</a:t>
            </a:r>
            <a:r>
              <a:rPr lang="zh-CN" altLang="en-US">
                <a:highlight>
                  <a:srgbClr val="C0C0C0"/>
                </a:highlight>
              </a:rPr>
              <a:t>的情况下，仍然能生成目标心理效应？</a:t>
            </a:r>
            <a:r>
              <a:rPr lang="en-US" altLang="zh-CN">
                <a:highlight>
                  <a:srgbClr val="C0C0C0"/>
                </a:highlight>
              </a:rPr>
              <a:t>	</a:t>
            </a:r>
            <a:endParaRPr lang="zh-CN" altLang="en-US">
              <a:highlight>
                <a:srgbClr val="C0C0C0"/>
              </a:highlight>
            </a:endParaRPr>
          </a:p>
          <a:p>
            <a:pPr marL="800100" lvl="1" indent="-342900" algn="l">
              <a:buAutoNum type="arabicPeriod"/>
            </a:pPr>
            <a:r>
              <a:rPr lang="en-US" altLang="zh-CN"/>
              <a:t>Scheel, A. M., Schijen, M. R. J., &amp; Lakens, D. (2021).An excess of positive results: Comparing the standard psychology literature with registered reports.Advances in Methods and Practices in Psychological Science, 4(2), 1–12.https://doi.org/10.1177/25152459211007467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en-US" altLang="zh-CN"/>
              <a:t>Oberauer, K., &amp; Lewandowsky, S. (2019).Addressing the theory crisis in psychology.Psychonomic Bulletin &amp; Review, 26(5), 1596–1618.https://doi.org/10.3758/s13423-019-01645-2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en-US" altLang="zh-CN"/>
              <a:t>Sui, J., He, X., &amp; Humphreys, G. W. (2012).Perceptual effects of social salience: Evidence from self-prioritization effects on perceptual matching.Journal of Experimental Psychology: Human Perception and Performance, 38(5), 1105–1117.https://doi.org/10.1037/a0029792</a:t>
            </a:r>
            <a:endParaRPr lang="en-US" altLang="zh-CN"/>
          </a:p>
          <a:p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525780" y="429260"/>
            <a:ext cx="11115040" cy="5984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研究具体方法【</a:t>
            </a:r>
            <a:r>
              <a:rPr lang="zh-CN" altLang="en-US">
                <a:sym typeface="+mn-ea"/>
              </a:rPr>
              <a:t>参考文献篇</a:t>
            </a:r>
            <a:r>
              <a:rPr lang="zh-CN" altLang="en-US"/>
              <a:t>】</a:t>
            </a:r>
            <a:endParaRPr lang="zh-CN" altLang="en-US"/>
          </a:p>
          <a:p>
            <a:pPr algn="ctr"/>
            <a:r>
              <a:rPr lang="zh-CN" altLang="en-US">
                <a:highlight>
                  <a:srgbClr val="FFFF00"/>
                </a:highlight>
                <a:sym typeface="+mn-ea"/>
              </a:rPr>
              <a:t>实验设计空间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Ω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潜在心理参数（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DDM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行为数据（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RT, ACC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endParaRPr lang="zh-CN" altLang="en-US"/>
          </a:p>
          <a:p>
            <a:r>
              <a:rPr lang="zh-CN" altLang="en-US"/>
              <a:t>一、生成模型的检验【</a:t>
            </a:r>
            <a:r>
              <a:rPr lang="en-US" altLang="zh-CN"/>
              <a:t>model checking</a:t>
            </a:r>
            <a:r>
              <a:rPr lang="zh-CN" altLang="en-US"/>
              <a:t>】</a:t>
            </a:r>
            <a:r>
              <a:rPr lang="en-US" altLang="zh-CN"/>
              <a:t>  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模型在多层级、多统计量、多不确定性条件下，是否能生成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“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看起来像人类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”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的数据</a:t>
            </a:r>
            <a:endParaRPr lang="zh-CN" altLang="en-US">
              <a:gradFill>
                <a:gsLst>
                  <a:gs pos="50000">
                    <a:schemeClr val="accent2"/>
                  </a:gs>
                  <a:gs pos="0">
                    <a:schemeClr val="accent2">
                      <a:lumMod val="25000"/>
                      <a:lumOff val="75000"/>
                    </a:schemeClr>
                  </a:gs>
                  <a:gs pos="100000">
                    <a:schemeClr val="accent2">
                      <a:lumMod val="85000"/>
                    </a:schemeClr>
                  </a:gs>
                </a:gsLst>
                <a:lin ang="5400000" scaled="1"/>
              </a:gradFill>
            </a:endParaRPr>
          </a:p>
          <a:p>
            <a:endParaRPr lang="zh-CN" altLang="en-US"/>
          </a:p>
          <a:p>
            <a:r>
              <a:rPr lang="en-US" altLang="zh-CN"/>
              <a:t>1.</a:t>
            </a:r>
            <a:r>
              <a:rPr lang="zh-CN" altLang="en-US"/>
              <a:t>模型的有效性分析（模型是否能按照</a:t>
            </a:r>
            <a:r>
              <a:rPr lang="zh-CN" altLang="en-US">
                <a:solidFill>
                  <a:srgbClr val="FF0000"/>
                </a:solidFill>
              </a:rPr>
              <a:t>预期</a:t>
            </a:r>
            <a:r>
              <a:rPr lang="zh-CN" altLang="en-US"/>
              <a:t>生成数据）【检查模型生成是否按照我们预想进行】</a:t>
            </a:r>
            <a:r>
              <a:rPr lang="en-US" altLang="zh-CN"/>
              <a:t> </a:t>
            </a:r>
            <a:r>
              <a:rPr lang="zh-CN" altLang="en-US"/>
              <a:t>参考文献</a:t>
            </a:r>
            <a:endParaRPr lang="zh-CN" altLang="en-US"/>
          </a:p>
          <a:p>
            <a:pPr algn="ctr"/>
            <a:endParaRPr lang="zh-CN" altLang="en-US">
              <a:highlight>
                <a:srgbClr val="C0C0C0"/>
              </a:highlight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zh-CN" altLang="en-US"/>
              <a:t>第三类：结构</a:t>
            </a:r>
            <a:r>
              <a:rPr lang="en-US" altLang="zh-CN"/>
              <a:t> / </a:t>
            </a:r>
            <a:r>
              <a:rPr lang="zh-CN" altLang="en-US"/>
              <a:t>过程层检验（可解释性与鲁棒性）</a:t>
            </a:r>
            <a:endParaRPr lang="zh-CN" altLang="en-US"/>
          </a:p>
          <a:p>
            <a:pPr indent="457200" algn="ctr">
              <a:buNone/>
            </a:pPr>
            <a:r>
              <a:rPr lang="zh-CN" altLang="en-US">
                <a:highlight>
                  <a:srgbClr val="C0C0C0"/>
                </a:highlight>
              </a:rPr>
              <a:t>模型的心理机制是否可识别、稳定，而不是</a:t>
            </a:r>
            <a:r>
              <a:rPr lang="en-US" altLang="zh-CN">
                <a:highlight>
                  <a:srgbClr val="C0C0C0"/>
                </a:highlight>
              </a:rPr>
              <a:t>“</a:t>
            </a:r>
            <a:r>
              <a:rPr lang="zh-CN" altLang="en-US">
                <a:highlight>
                  <a:srgbClr val="C0C0C0"/>
                </a:highlight>
              </a:rPr>
              <a:t>参数万能解释器</a:t>
            </a:r>
            <a:r>
              <a:rPr lang="en-US" altLang="zh-CN">
                <a:highlight>
                  <a:srgbClr val="C0C0C0"/>
                </a:highlight>
              </a:rPr>
              <a:t>”</a:t>
            </a:r>
            <a:r>
              <a:rPr lang="zh-CN" altLang="en-US">
                <a:highlight>
                  <a:srgbClr val="C0C0C0"/>
                </a:highlight>
              </a:rPr>
              <a:t>？</a:t>
            </a:r>
            <a:r>
              <a:rPr lang="en-US" altLang="zh-CN">
                <a:highlight>
                  <a:srgbClr val="C0C0C0"/>
                </a:highlight>
              </a:rPr>
              <a:t>	</a:t>
            </a:r>
            <a:endParaRPr lang="zh-CN" altLang="en-US">
              <a:highlight>
                <a:srgbClr val="C0C0C0"/>
              </a:highlight>
            </a:endParaRPr>
          </a:p>
          <a:p>
            <a:pPr marL="800100" lvl="1" indent="-342900" algn="l">
              <a:buAutoNum type="arabicPeriod"/>
            </a:pPr>
            <a:r>
              <a:rPr lang="en-US" altLang="zh-CN"/>
              <a:t>Palminteri, S., Wyart, V., &amp; Koechlin, E. (2017).The importance of falsification in computational cognitive modeling.Trends in Cognitive Sciences, 21(6), 425–433.https://doi.org/10.1016/j.tics.2017.03.011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en-US" altLang="zh-CN"/>
              <a:t>Heathcote, A., Brown, S. D., &amp; Wagenmakers, E.-J. (2015).An introduction to good practices in cognitive modeling.Psychological Methods, 20(4), 401–421.https://doi.org/10.1037/met0000047</a:t>
            </a:r>
            <a:endParaRPr lang="en-US" altLang="zh-CN"/>
          </a:p>
          <a:p>
            <a:pPr marL="800100" lvl="1" indent="-342900" algn="l">
              <a:buAutoNum type="arabicPeriod"/>
            </a:pPr>
            <a:r>
              <a:rPr lang="en-US" altLang="zh-CN"/>
              <a:t>Wilson, R. C., &amp; Adams, R. A. (2013).Gaussian process kernels for pattern discovery and extrapolation.arXiv preprint arXiv:1302.4245.</a:t>
            </a:r>
            <a:endParaRPr lang="en-US" altLang="zh-C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525780" y="429260"/>
            <a:ext cx="11115040" cy="5984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研究具体方法【思路篇】</a:t>
            </a:r>
            <a:endParaRPr lang="zh-CN" altLang="en-US"/>
          </a:p>
          <a:p>
            <a:pPr algn="ctr"/>
            <a:r>
              <a:rPr lang="zh-CN" altLang="en-US">
                <a:highlight>
                  <a:srgbClr val="FFFF00"/>
                </a:highlight>
                <a:sym typeface="+mn-ea"/>
              </a:rPr>
              <a:t>实验设计空间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Ω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潜在心理参数（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DDM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en-US" altLang="en-US">
                <a:highlight>
                  <a:srgbClr val="FFFF00"/>
                </a:highlight>
                <a:sym typeface="+mn-ea"/>
              </a:rPr>
              <a:t>→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 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行为数据（</a:t>
            </a:r>
            <a:r>
              <a:rPr lang="en-US" altLang="zh-CN">
                <a:highlight>
                  <a:srgbClr val="FFFF00"/>
                </a:highlight>
                <a:sym typeface="+mn-ea"/>
              </a:rPr>
              <a:t>RT, ACC</a:t>
            </a:r>
            <a:r>
              <a:rPr lang="zh-CN" altLang="en-US">
                <a:highlight>
                  <a:srgbClr val="FFFF00"/>
                </a:highlight>
                <a:sym typeface="+mn-ea"/>
              </a:rPr>
              <a:t>）</a:t>
            </a:r>
            <a:endParaRPr lang="zh-CN" altLang="en-US"/>
          </a:p>
          <a:p>
            <a:r>
              <a:rPr lang="zh-CN" altLang="en-US"/>
              <a:t>一、生成模型的检验【</a:t>
            </a:r>
            <a:r>
              <a:rPr lang="en-US" altLang="zh-CN"/>
              <a:t>model checking</a:t>
            </a:r>
            <a:r>
              <a:rPr lang="zh-CN" altLang="en-US"/>
              <a:t>】</a:t>
            </a:r>
            <a:r>
              <a:rPr lang="en-US" altLang="zh-CN"/>
              <a:t>  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模型在多层级、多统计量、多不确定性条件下，是否能生成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“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看起来像人类</a:t>
            </a:r>
            <a:r>
              <a:rPr lang="en-US" altLang="zh-CN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”</a:t>
            </a:r>
            <a:r>
              <a:rPr lang="zh-CN" altLang="en-US">
                <a:gradFill>
                  <a:gsLst>
                    <a:gs pos="50000">
                      <a:schemeClr val="accent2"/>
                    </a:gs>
                    <a:gs pos="0">
                      <a:schemeClr val="accent2">
                        <a:lumMod val="25000"/>
                        <a:lumOff val="75000"/>
                      </a:schemeClr>
                    </a:gs>
                    <a:gs pos="100000">
                      <a:schemeClr val="accent2">
                        <a:lumMod val="85000"/>
                      </a:schemeClr>
                    </a:gs>
                  </a:gsLst>
                  <a:lin ang="5400000" scaled="1"/>
                </a:gradFill>
                <a:sym typeface="+mn-ea"/>
              </a:rPr>
              <a:t>的数据</a:t>
            </a:r>
            <a:endParaRPr lang="zh-CN" altLang="en-US">
              <a:gradFill>
                <a:gsLst>
                  <a:gs pos="50000">
                    <a:schemeClr val="accent2"/>
                  </a:gs>
                  <a:gs pos="0">
                    <a:schemeClr val="accent2">
                      <a:lumMod val="25000"/>
                      <a:lumOff val="75000"/>
                    </a:schemeClr>
                  </a:gs>
                  <a:gs pos="100000">
                    <a:schemeClr val="accent2">
                      <a:lumMod val="85000"/>
                    </a:schemeClr>
                  </a:gs>
                </a:gsLst>
                <a:lin ang="5400000" scaled="1"/>
              </a:gradFill>
            </a:endParaRPr>
          </a:p>
          <a:p>
            <a:endParaRPr lang="zh-CN" altLang="en-US"/>
          </a:p>
          <a:p>
            <a:r>
              <a:rPr lang="en-US" altLang="zh-CN"/>
              <a:t>2.</a:t>
            </a:r>
            <a:r>
              <a:rPr lang="zh-CN" altLang="en-US"/>
              <a:t>模型与真实数据的差异分析（模型是否能很好的</a:t>
            </a:r>
            <a:r>
              <a:rPr lang="zh-CN" altLang="en-US">
                <a:solidFill>
                  <a:srgbClr val="FF0000"/>
                </a:solidFill>
              </a:rPr>
              <a:t>捕捉</a:t>
            </a:r>
            <a:r>
              <a:rPr lang="zh-CN" altLang="en-US"/>
              <a:t>真实被试的实际反应情况）【模型的解释力与捕捉能力】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3430</Words>
  <Application>WPS 演示</Application>
  <PresentationFormat>宽屏</PresentationFormat>
  <Paragraphs>83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6" baseType="lpstr">
      <vt:lpstr>Arial</vt:lpstr>
      <vt:lpstr>宋体</vt:lpstr>
      <vt:lpstr>Wingdings</vt:lpstr>
      <vt:lpstr>微软雅黑</vt:lpstr>
      <vt:lpstr>Calibri</vt:lpstr>
      <vt:lpstr>Arial Unicode MS</vt:lpstr>
      <vt:lpstr>Wingdings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zx C</dc:creator>
  <cp:lastModifiedBy>蔡振辛</cp:lastModifiedBy>
  <cp:revision>41</cp:revision>
  <dcterms:created xsi:type="dcterms:W3CDTF">2023-08-09T12:44:00Z</dcterms:created>
  <dcterms:modified xsi:type="dcterms:W3CDTF">2026-02-09T07:53:06Z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E99CFA226E034348B48A93EF9BDC4CD5_12</vt:lpwstr>
  </property>
</Properties>
</file>