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7" r:id="rId6"/>
    <p:sldId id="259" r:id="rId7"/>
    <p:sldId id="268" r:id="rId8"/>
    <p:sldId id="260" r:id="rId9"/>
    <p:sldId id="261" r:id="rId10"/>
    <p:sldId id="262" r:id="rId11"/>
    <p:sldId id="265" r:id="rId12"/>
    <p:sldId id="263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1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一、</a:t>
            </a:r>
            <a:r>
              <a:rPr lang="zh-CN" altLang="en-US">
                <a:highlight>
                  <a:srgbClr val="FFFF00"/>
                </a:highlight>
              </a:rPr>
              <a:t>生成模型的检验</a:t>
            </a:r>
            <a:r>
              <a:rPr lang="zh-CN" altLang="en-US"/>
              <a:t>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模型与真实数据的差异分析（模型是否能很好的</a:t>
            </a:r>
            <a:r>
              <a:rPr lang="zh-CN" altLang="en-US">
                <a:solidFill>
                  <a:srgbClr val="FF0000"/>
                </a:solidFill>
              </a:rPr>
              <a:t>捕捉</a:t>
            </a:r>
            <a:r>
              <a:rPr lang="zh-CN" altLang="en-US"/>
              <a:t>真实被试的实际反应情况）【模型的解释力与捕捉能力】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不同生成模型之间的比较（不同模型之间哪一种</a:t>
            </a:r>
            <a:r>
              <a:rPr lang="zh-CN" altLang="en-US">
                <a:solidFill>
                  <a:srgbClr val="FF0000"/>
                </a:solidFill>
              </a:rPr>
              <a:t>更具有</a:t>
            </a:r>
            <a:r>
              <a:rPr lang="zh-CN" altLang="en-US"/>
              <a:t>实际预测效用）【生成模型与生成模型之间的比较】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二、行为实验分析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验证不同实验设计空间能对</a:t>
            </a:r>
            <a:r>
              <a:rPr lang="en-US" altLang="zh-CN"/>
              <a:t>SPE</a:t>
            </a:r>
            <a:r>
              <a:rPr lang="zh-CN" altLang="en-US"/>
              <a:t>产生影响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探索交互作用</a:t>
            </a:r>
            <a:r>
              <a:rPr lang="en-US" altLang="zh-CN"/>
              <a:t>{</a:t>
            </a:r>
            <a:r>
              <a:rPr lang="zh-CN" altLang="en-US">
                <a:highlight>
                  <a:srgbClr val="C0C0C0"/>
                </a:highlight>
              </a:rPr>
              <a:t>可能是选做</a:t>
            </a:r>
            <a:r>
              <a:rPr lang="en-US" altLang="zh-CN"/>
              <a:t>}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使用</a:t>
            </a:r>
            <a:r>
              <a:rPr lang="en-US" altLang="zh-CN"/>
              <a:t>GP</a:t>
            </a:r>
            <a:r>
              <a:rPr lang="zh-CN" altLang="en-US"/>
              <a:t>研究其边界（</a:t>
            </a:r>
            <a:r>
              <a:rPr lang="en-US" altLang="zh-CN"/>
              <a:t>SPE</a:t>
            </a:r>
            <a:r>
              <a:rPr lang="zh-CN" altLang="en-US"/>
              <a:t>产生、消失的实验设计空间参数组）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模型层面：</a:t>
            </a:r>
            <a:endParaRPr lang="zh-CN" altLang="en-US"/>
          </a:p>
          <a:p>
            <a:r>
              <a:rPr lang="zh-CN" altLang="en-US">
                <a:sym typeface="+mn-ea"/>
              </a:rPr>
              <a:t>（一）基线生成模型：</a:t>
            </a:r>
            <a:r>
              <a:rPr lang="en-US" altLang="zh-CN">
                <a:sym typeface="+mn-ea"/>
              </a:rPr>
              <a:t>Sigmoid </a:t>
            </a:r>
            <a:r>
              <a:rPr lang="zh-CN" altLang="en-US">
                <a:sym typeface="+mn-ea"/>
              </a:rPr>
              <a:t>函数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标准</a:t>
            </a:r>
            <a:r>
              <a:rPr lang="en-US" altLang="zh-CN">
                <a:sym typeface="+mn-ea"/>
              </a:rPr>
              <a:t> DDM</a:t>
            </a:r>
            <a:endParaRPr lang="zh-CN" altLang="en-US"/>
          </a:p>
          <a:p>
            <a:r>
              <a:rPr lang="zh-CN" altLang="en-US">
                <a:sym typeface="+mn-ea"/>
              </a:rPr>
              <a:t>（二）进阶生成模型：</a:t>
            </a:r>
            <a:r>
              <a:rPr lang="en-US" altLang="zh-CN">
                <a:sym typeface="+mn-ea"/>
              </a:rPr>
              <a:t>Sigmoid + Gaussian Process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GP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模型包含两种建模形式：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①以</a:t>
            </a:r>
            <a:r>
              <a:rPr lang="en-US" altLang="zh-CN">
                <a:sym typeface="+mn-ea"/>
              </a:rPr>
              <a:t> Sigmoid </a:t>
            </a:r>
            <a:r>
              <a:rPr lang="zh-CN" altLang="en-US">
                <a:sym typeface="+mn-ea"/>
              </a:rPr>
              <a:t>函数为先验，由</a:t>
            </a:r>
            <a:r>
              <a:rPr lang="en-US" altLang="zh-CN">
                <a:sym typeface="+mn-ea"/>
              </a:rPr>
              <a:t> GP </a:t>
            </a:r>
            <a:r>
              <a:rPr lang="zh-CN" altLang="en-US">
                <a:sym typeface="+mn-ea"/>
              </a:rPr>
              <a:t>学习并替代其非线性映射关系；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②以</a:t>
            </a:r>
            <a:r>
              <a:rPr lang="en-US" altLang="zh-CN">
                <a:sym typeface="+mn-ea"/>
              </a:rPr>
              <a:t> Sigmoid </a:t>
            </a:r>
            <a:r>
              <a:rPr lang="zh-CN" altLang="en-US">
                <a:sym typeface="+mn-ea"/>
              </a:rPr>
              <a:t>函数主导核心关联，由</a:t>
            </a:r>
            <a:r>
              <a:rPr lang="en-US" altLang="zh-CN">
                <a:sym typeface="+mn-ea"/>
              </a:rPr>
              <a:t> GP </a:t>
            </a:r>
            <a:r>
              <a:rPr lang="zh-CN" altLang="en-US">
                <a:sym typeface="+mn-ea"/>
              </a:rPr>
              <a:t>捕捉模型残差与个体差异。</a:t>
            </a:r>
            <a:endParaRPr lang="zh-CN" altLang="en-US"/>
          </a:p>
          <a:p>
            <a:r>
              <a:rPr lang="zh-CN" altLang="en-US">
                <a:sym typeface="+mn-ea"/>
              </a:rPr>
              <a:t>（三）情境化生成模型：基于</a:t>
            </a:r>
            <a:r>
              <a:rPr lang="en-US" altLang="zh-CN">
                <a:sym typeface="+mn-ea"/>
              </a:rPr>
              <a:t> HDDM </a:t>
            </a:r>
            <a:r>
              <a:rPr lang="zh-CN" altLang="en-US">
                <a:sym typeface="+mn-ea"/>
              </a:rPr>
              <a:t>的条件化参数建模</a:t>
            </a:r>
            <a:endParaRPr lang="zh-CN" altLang="en-US"/>
          </a:p>
          <a:p>
            <a:pPr indent="457200"/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endParaRPr lang="zh-CN" altLang="en-US"/>
          </a:p>
          <a:p>
            <a:pPr algn="ctr"/>
            <a:endParaRPr lang="zh-CN" altLang="en-US">
              <a:highlight>
                <a:srgbClr val="C0C0C0"/>
              </a:highlight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Layer 1</a:t>
            </a:r>
            <a:r>
              <a:rPr lang="zh-CN" altLang="en-US"/>
              <a:t>：分布层检验</a:t>
            </a:r>
            <a:r>
              <a:rPr lang="en-US" altLang="zh-CN"/>
              <a:t>	</a:t>
            </a:r>
            <a:r>
              <a:rPr lang="zh-CN" altLang="en-US">
                <a:highlight>
                  <a:srgbClr val="C0C0C0"/>
                </a:highlight>
              </a:rPr>
              <a:t>模型生成的数据，在最基本的统计结构上是否合理？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en-US" altLang="zh-CN"/>
              <a:t>RT </a:t>
            </a:r>
            <a:r>
              <a:rPr lang="zh-CN" altLang="en-US"/>
              <a:t>分布形态（右偏、长尾、</a:t>
            </a:r>
            <a:r>
              <a:rPr lang="en-US" altLang="zh-CN"/>
              <a:t>0-2s</a:t>
            </a:r>
            <a:r>
              <a:rPr lang="zh-CN" altLang="en-US"/>
              <a:t>内）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zh-CN" altLang="en-US"/>
              <a:t>正确</a:t>
            </a:r>
            <a:r>
              <a:rPr lang="en-US" altLang="zh-CN"/>
              <a:t>/</a:t>
            </a:r>
            <a:r>
              <a:rPr lang="zh-CN" altLang="en-US"/>
              <a:t>错误反应比例（天花板、地板效应）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zh-CN" altLang="en-US"/>
              <a:t>条件差异（</a:t>
            </a:r>
            <a:r>
              <a:rPr lang="en-US" altLang="zh-CN"/>
              <a:t>Self vs Other, Matching vs Nonmatching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Layer 2</a:t>
            </a:r>
            <a:r>
              <a:rPr lang="zh-CN" altLang="en-US"/>
              <a:t>：效应层检验</a:t>
            </a:r>
            <a:r>
              <a:rPr lang="en-US" altLang="zh-CN"/>
              <a:t>	</a:t>
            </a:r>
            <a:r>
              <a:rPr lang="zh-CN" altLang="en-US">
                <a:highlight>
                  <a:srgbClr val="C0C0C0"/>
                </a:highlight>
              </a:rPr>
              <a:t>模型是否能</a:t>
            </a:r>
            <a:r>
              <a:rPr lang="en-US" altLang="zh-CN">
                <a:highlight>
                  <a:srgbClr val="C0C0C0"/>
                </a:highlight>
              </a:rPr>
              <a:t>“</a:t>
            </a:r>
            <a:r>
              <a:rPr lang="zh-CN" altLang="en-US">
                <a:highlight>
                  <a:srgbClr val="C0C0C0"/>
                </a:highlight>
              </a:rPr>
              <a:t>自然地产生</a:t>
            </a:r>
            <a:r>
              <a:rPr lang="en-US" altLang="zh-CN">
                <a:highlight>
                  <a:srgbClr val="C0C0C0"/>
                </a:highlight>
              </a:rPr>
              <a:t>”</a:t>
            </a:r>
            <a:r>
              <a:rPr lang="zh-CN" altLang="en-US">
                <a:highlight>
                  <a:srgbClr val="C0C0C0"/>
                </a:highlight>
              </a:rPr>
              <a:t>我们关心的心理效应？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en-US" altLang="zh-CN"/>
              <a:t>SPE</a:t>
            </a:r>
            <a:r>
              <a:rPr lang="zh-CN" altLang="en-US"/>
              <a:t>（</a:t>
            </a:r>
            <a:r>
              <a:rPr lang="en-US" altLang="zh-CN"/>
              <a:t>RT/ACC)</a:t>
            </a:r>
            <a:r>
              <a:rPr lang="zh-CN" altLang="en-US"/>
              <a:t>【使用</a:t>
            </a:r>
            <a:r>
              <a:rPr lang="en-US" altLang="zh-CN"/>
              <a:t>Cohens‘d / Self - Other</a:t>
            </a:r>
            <a:r>
              <a:rPr lang="zh-CN" altLang="en-US"/>
              <a:t>】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altLang="en-US"/>
              <a:t>不同</a:t>
            </a:r>
            <a:r>
              <a:rPr lang="en-US" altLang="zh-CN"/>
              <a:t> </a:t>
            </a:r>
            <a:r>
              <a:rPr lang="zh-CN" altLang="en-US"/>
              <a:t>实验设计空间参数</a:t>
            </a:r>
            <a:r>
              <a:rPr lang="zh-CN" altLang="en-US"/>
              <a:t>组合下效应是否：增强、减弱、消失、反转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endParaRPr lang="zh-CN" altLang="en-US"/>
          </a:p>
          <a:p>
            <a:pPr marL="285750" lvl="0" indent="-285750" algn="l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模型与真实数据的差异分析（模型是否能很好的</a:t>
            </a:r>
            <a:r>
              <a:rPr lang="zh-CN" altLang="en-US">
                <a:solidFill>
                  <a:srgbClr val="FF0000"/>
                </a:solidFill>
              </a:rPr>
              <a:t>捕捉</a:t>
            </a:r>
            <a:r>
              <a:rPr lang="zh-CN" altLang="en-US"/>
              <a:t>真实被试的实际反应情况）【模型的解释力与捕捉能力】</a:t>
            </a:r>
            <a:endParaRPr lang="zh-CN" altLang="en-US"/>
          </a:p>
          <a:p>
            <a:endParaRPr lang="zh-CN" altLang="en-US"/>
          </a:p>
          <a:p>
            <a:pPr marL="285750" lvl="0" indent="-285750" algn="l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Layer 3</a:t>
            </a:r>
            <a:r>
              <a:rPr lang="zh-CN" altLang="en-US">
                <a:sym typeface="+mn-ea"/>
              </a:rPr>
              <a:t>：结构层检验</a:t>
            </a:r>
            <a:r>
              <a:rPr lang="en-US" altLang="zh-CN">
                <a:sym typeface="+mn-ea"/>
              </a:rPr>
              <a:t>	</a:t>
            </a:r>
            <a:r>
              <a:rPr lang="zh-CN" altLang="en-US">
                <a:highlight>
                  <a:srgbClr val="C0C0C0"/>
                </a:highlight>
                <a:sym typeface="+mn-ea"/>
              </a:rPr>
              <a:t>模型的心理机制是否稳定、可解释、不过拟合？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zh-CN" altLang="en-US">
                <a:sym typeface="+mn-ea"/>
              </a:rPr>
              <a:t>参数恢复（</a:t>
            </a:r>
            <a:r>
              <a:rPr lang="en-US" altLang="zh-CN">
                <a:sym typeface="+mn-ea"/>
              </a:rPr>
              <a:t>parameter recovery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【生成已知参数的数据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 GP </a:t>
            </a:r>
            <a:r>
              <a:rPr lang="zh-CN" altLang="en-US">
                <a:sym typeface="+mn-ea"/>
              </a:rPr>
              <a:t>拟合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DDM</a:t>
            </a:r>
            <a:r>
              <a:rPr lang="zh-CN" altLang="en-US">
                <a:sym typeface="+mn-ea"/>
              </a:rPr>
              <a:t>参数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的映射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检验恢复能力】</a:t>
            </a:r>
            <a:endParaRPr lang="zh-CN" altLang="en-US"/>
          </a:p>
          <a:p>
            <a:pPr marL="800100" lvl="1" indent="-342900" algn="l">
              <a:buAutoNum type="arabicPeriod"/>
            </a:pPr>
            <a:r>
              <a:rPr lang="zh-CN" altLang="en-US">
                <a:sym typeface="+mn-ea"/>
              </a:rPr>
              <a:t>噪声鲁棒性（</a:t>
            </a:r>
            <a:r>
              <a:rPr lang="en-US" altLang="zh-CN">
                <a:sym typeface="+mn-ea"/>
              </a:rPr>
              <a:t>noise robustness</a:t>
            </a:r>
            <a:r>
              <a:rPr lang="zh-CN" altLang="en-US">
                <a:sym typeface="+mn-ea"/>
              </a:rPr>
              <a:t>）【生成模型是否稳定，噪音是否会有影响】</a:t>
            </a:r>
            <a:endParaRPr lang="zh-CN" altLang="en-US"/>
          </a:p>
          <a:p>
            <a:pPr marL="800100" lvl="1" indent="-342900" algn="l">
              <a:buAutoNum type="arabicPeriod"/>
            </a:pPr>
            <a:r>
              <a:rPr lang="zh-CN" altLang="en-US">
                <a:sym typeface="+mn-ea"/>
              </a:rPr>
              <a:t>模型可辨识性（</a:t>
            </a:r>
            <a:r>
              <a:rPr lang="en-US" altLang="zh-CN">
                <a:sym typeface="+mn-ea"/>
              </a:rPr>
              <a:t>Model Identifiability</a:t>
            </a:r>
            <a:r>
              <a:rPr lang="zh-CN" altLang="en-US">
                <a:sym typeface="+mn-ea"/>
              </a:rPr>
              <a:t>）【不同的参数组合（</a:t>
            </a:r>
            <a:r>
              <a:rPr lang="en-US" altLang="zh-CN">
                <a:sym typeface="+mn-ea"/>
              </a:rPr>
              <a:t>P|T|W</a:t>
            </a:r>
            <a:r>
              <a:rPr lang="zh-CN" altLang="en-US">
                <a:sym typeface="+mn-ea"/>
              </a:rPr>
              <a:t>）是否会产生可区分的数据】</a:t>
            </a:r>
            <a:endParaRPr lang="zh-CN" altLang="en-US">
              <a:sym typeface="+mn-ea"/>
            </a:endParaRPr>
          </a:p>
          <a:p>
            <a:pPr marL="800100" lvl="1" indent="-342900" algn="l">
              <a:buAutoNum type="arabicPeriod"/>
            </a:pPr>
            <a:r>
              <a:rPr lang="en-US" altLang="zh-CN">
                <a:sym typeface="+mn-ea"/>
              </a:rPr>
              <a:t>GP </a:t>
            </a:r>
            <a:r>
              <a:rPr lang="zh-CN" altLang="en-US">
                <a:sym typeface="+mn-ea"/>
              </a:rPr>
              <a:t>是否只是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插值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，还是有心理意义的不确定性建模【核函数长度尺度、噪声方差对生成结果的影响】</a:t>
            </a:r>
            <a:endParaRPr lang="zh-CN" altLang="en-US">
              <a:sym typeface="+mn-ea"/>
            </a:endParaRPr>
          </a:p>
          <a:p>
            <a:pPr marL="800100" lvl="1" indent="-342900" algn="l">
              <a:buAutoNum type="arabicPeriod"/>
            </a:pPr>
            <a:endParaRPr lang="zh-CN" altLang="en-US">
              <a:sym typeface="+mn-ea"/>
            </a:endParaRPr>
          </a:p>
          <a:p>
            <a:pPr marL="800100" lvl="1" indent="-342900" algn="l">
              <a:buAutoNum type="arabicPeriod"/>
            </a:pPr>
            <a:endParaRPr lang="en-US" altLang="zh-CN">
              <a:sym typeface="+mn-ea"/>
            </a:endParaRPr>
          </a:p>
          <a:p>
            <a:pPr marL="0" lvl="1" algn="l">
              <a:buClrTx/>
              <a:buSzTx/>
              <a:buFontTx/>
              <a:buNone/>
            </a:pPr>
            <a:r>
              <a:rPr lang="en-US" altLang="zh-CN">
                <a:sym typeface="+mn-ea"/>
              </a:rPr>
              <a:t>3.不同生成模型之间的比较（不同模型之间哪一种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更具有</a:t>
            </a:r>
            <a:r>
              <a:rPr lang="en-US" altLang="zh-CN">
                <a:sym typeface="+mn-ea"/>
              </a:rPr>
              <a:t>实际预测效用）【生成模型与生成模型之间的比较】</a:t>
            </a:r>
            <a:endParaRPr lang="en-US" altLang="zh-CN"/>
          </a:p>
          <a:p>
            <a:pPr lvl="1" indent="0" algn="l">
              <a:buNone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Layer 4：</a:t>
            </a:r>
            <a:r>
              <a:rPr lang="en-US" altLang="zh-CN">
                <a:sym typeface="+mn-ea"/>
              </a:rPr>
              <a:t>模型比较（Baseline/Null Model Comparison）</a:t>
            </a:r>
            <a:endParaRPr lang="en-US" altLang="zh-CN"/>
          </a:p>
          <a:p>
            <a:pPr marL="800100" lvl="1" indent="-342900">
              <a:buFont typeface="Wingdings" panose="05000000000000000000" charset="0"/>
              <a:buAutoNum type="arabicPeriod"/>
            </a:pPr>
            <a:r>
              <a:rPr lang="en-US" altLang="zh-CN">
                <a:sym typeface="+mn-ea"/>
              </a:rPr>
              <a:t>WAIC (Widely Applicable Information Criterion)</a:t>
            </a:r>
            <a:endParaRPr lang="en-US" altLang="zh-CN"/>
          </a:p>
          <a:p>
            <a:pPr marL="800100" lvl="1" indent="-342900">
              <a:buFont typeface="Wingdings" panose="05000000000000000000" charset="0"/>
              <a:buAutoNum type="arabicPeriod"/>
            </a:pPr>
            <a:r>
              <a:rPr lang="en-US" altLang="zh-CN">
                <a:sym typeface="+mn-ea"/>
              </a:rPr>
              <a:t>LOO-CV (Leave-One-Out Cross-Validation) + PSIS smoothing</a:t>
            </a:r>
            <a:endParaRPr lang="en-US" altLang="zh-CN"/>
          </a:p>
          <a:p>
            <a:pPr marL="800100" lvl="1" indent="-342900">
              <a:buFont typeface="Wingdings" panose="05000000000000000000" charset="0"/>
              <a:buAutoNum type="arabicPeriod"/>
            </a:pPr>
            <a:r>
              <a:rPr lang="en-US" altLang="zh-CN">
                <a:sym typeface="+mn-ea"/>
              </a:rPr>
              <a:t>ELPD (Expected Log Predictive Density)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endParaRPr lang="en-US" altLang="zh-CN"/>
          </a:p>
          <a:p>
            <a:pPr lvl="1" indent="0" algn="l">
              <a:buNone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endParaRPr lang="zh-CN" altLang="en-US"/>
          </a:p>
          <a:p>
            <a:pPr algn="ctr"/>
            <a:endParaRPr lang="zh-CN" altLang="en-US">
              <a:highlight>
                <a:srgbClr val="C0C0C0"/>
              </a:highlight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Layer 1</a:t>
            </a:r>
            <a:r>
              <a:rPr lang="zh-CN" altLang="en-US"/>
              <a:t>：分布层检验</a:t>
            </a:r>
            <a:r>
              <a:rPr lang="en-US" altLang="zh-CN"/>
              <a:t>	</a:t>
            </a:r>
            <a:r>
              <a:rPr lang="zh-CN" altLang="en-US">
                <a:highlight>
                  <a:srgbClr val="C0C0C0"/>
                </a:highlight>
              </a:rPr>
              <a:t>模型生成的数据，在最基本的统计结构上是否合理？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en-US" altLang="zh-CN"/>
              <a:t>RT </a:t>
            </a:r>
            <a:r>
              <a:rPr lang="zh-CN" altLang="en-US"/>
              <a:t>分布形态（右偏、长尾、</a:t>
            </a:r>
            <a:r>
              <a:rPr lang="en-US" altLang="zh-CN"/>
              <a:t>0-2s</a:t>
            </a:r>
            <a:r>
              <a:rPr lang="zh-CN" altLang="en-US"/>
              <a:t>内）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zh-CN" altLang="en-US"/>
              <a:t>正确</a:t>
            </a:r>
            <a:r>
              <a:rPr lang="en-US" altLang="zh-CN"/>
              <a:t>/</a:t>
            </a:r>
            <a:r>
              <a:rPr lang="zh-CN" altLang="en-US"/>
              <a:t>错误反应比例（天花板、地板效应）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zh-CN" altLang="en-US"/>
              <a:t>条件差异（</a:t>
            </a:r>
            <a:r>
              <a:rPr lang="en-US" altLang="zh-CN"/>
              <a:t>Self vs Other, Matching vs Nonmatching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Layer 2</a:t>
            </a:r>
            <a:r>
              <a:rPr lang="zh-CN" altLang="en-US"/>
              <a:t>：效应层检验</a:t>
            </a:r>
            <a:r>
              <a:rPr lang="en-US" altLang="zh-CN"/>
              <a:t>	</a:t>
            </a:r>
            <a:r>
              <a:rPr lang="zh-CN" altLang="en-US">
                <a:highlight>
                  <a:srgbClr val="C0C0C0"/>
                </a:highlight>
              </a:rPr>
              <a:t>模型是否能</a:t>
            </a:r>
            <a:r>
              <a:rPr lang="en-US" altLang="zh-CN">
                <a:highlight>
                  <a:srgbClr val="C0C0C0"/>
                </a:highlight>
              </a:rPr>
              <a:t>“</a:t>
            </a:r>
            <a:r>
              <a:rPr lang="zh-CN" altLang="en-US">
                <a:highlight>
                  <a:srgbClr val="C0C0C0"/>
                </a:highlight>
              </a:rPr>
              <a:t>自然地产生</a:t>
            </a:r>
            <a:r>
              <a:rPr lang="en-US" altLang="zh-CN">
                <a:highlight>
                  <a:srgbClr val="C0C0C0"/>
                </a:highlight>
              </a:rPr>
              <a:t>”</a:t>
            </a:r>
            <a:r>
              <a:rPr lang="zh-CN" altLang="en-US">
                <a:highlight>
                  <a:srgbClr val="C0C0C0"/>
                </a:highlight>
              </a:rPr>
              <a:t>我们关心的心理效应？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en-US" altLang="zh-CN"/>
              <a:t>SPE</a:t>
            </a:r>
            <a:r>
              <a:rPr lang="zh-CN" altLang="en-US"/>
              <a:t>（</a:t>
            </a:r>
            <a:r>
              <a:rPr lang="en-US" altLang="zh-CN"/>
              <a:t>RT/ACC)</a:t>
            </a:r>
            <a:r>
              <a:rPr lang="zh-CN" altLang="en-US"/>
              <a:t>【使用</a:t>
            </a:r>
            <a:r>
              <a:rPr lang="en-US" altLang="zh-CN"/>
              <a:t>Cohens‘d / Self - Other</a:t>
            </a:r>
            <a:r>
              <a:rPr lang="zh-CN" altLang="en-US"/>
              <a:t>】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altLang="en-US"/>
              <a:t>不同</a:t>
            </a:r>
            <a:r>
              <a:rPr lang="en-US" altLang="zh-CN"/>
              <a:t> </a:t>
            </a:r>
            <a:r>
              <a:rPr lang="zh-CN" altLang="en-US"/>
              <a:t>实验设计空间参数</a:t>
            </a:r>
            <a:r>
              <a:rPr lang="zh-CN" altLang="en-US"/>
              <a:t>组合下效应是否：增强、减弱、消失、反转</a:t>
            </a:r>
            <a:endParaRPr lang="zh-CN" altLang="en-US"/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endParaRPr lang="zh-CN" altLang="en-US"/>
          </a:p>
          <a:p>
            <a:pPr marL="285750" lvl="0" indent="-285750" algn="l">
              <a:buFont typeface="Wingdings" panose="05000000000000000000" charset="0"/>
              <a:buChar char="Ø"/>
            </a:pPr>
            <a:r>
              <a:rPr lang="en-US" altLang="zh-CN"/>
              <a:t>Layer 3</a:t>
            </a:r>
            <a:r>
              <a:rPr lang="zh-CN" altLang="en-US"/>
              <a:t>：结构层检验</a:t>
            </a:r>
            <a:r>
              <a:rPr lang="en-US" altLang="zh-CN"/>
              <a:t>	</a:t>
            </a:r>
            <a:r>
              <a:rPr lang="zh-CN" altLang="en-US">
                <a:highlight>
                  <a:srgbClr val="C0C0C0"/>
                </a:highlight>
              </a:rPr>
              <a:t>模型的心理机制是否稳定、可解释、不过拟合？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zh-CN" altLang="en-US"/>
              <a:t>参数恢复（</a:t>
            </a:r>
            <a:r>
              <a:rPr lang="en-US" altLang="zh-CN"/>
              <a:t>parameter recovery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【生成已知参数的数据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用</a:t>
            </a:r>
            <a:r>
              <a:rPr lang="en-US" altLang="zh-CN"/>
              <a:t> GP </a:t>
            </a:r>
            <a:r>
              <a:rPr lang="zh-CN" altLang="en-US"/>
              <a:t>拟合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DDM</a:t>
            </a:r>
            <a:r>
              <a:rPr lang="zh-CN" altLang="en-US"/>
              <a:t>参数</a:t>
            </a:r>
            <a:r>
              <a:rPr lang="en-US" altLang="zh-CN"/>
              <a:t> </a:t>
            </a:r>
            <a:r>
              <a:rPr lang="zh-CN" altLang="en-US"/>
              <a:t>的映射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检验恢复能力】</a:t>
            </a:r>
            <a:endParaRPr lang="zh-CN" altLang="en-US"/>
          </a:p>
          <a:p>
            <a:pPr marL="800100" lvl="1" indent="-342900" algn="l">
              <a:buAutoNum type="arabicPeriod"/>
            </a:pPr>
            <a:r>
              <a:rPr lang="zh-CN" altLang="en-US"/>
              <a:t>噪声鲁棒性（</a:t>
            </a:r>
            <a:r>
              <a:rPr lang="en-US" altLang="zh-CN"/>
              <a:t>noise robustness</a:t>
            </a:r>
            <a:r>
              <a:rPr lang="zh-CN" altLang="en-US"/>
              <a:t>）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GP </a:t>
            </a:r>
            <a:r>
              <a:rPr lang="zh-CN" altLang="en-US"/>
              <a:t>是否只是</a:t>
            </a:r>
            <a:r>
              <a:rPr lang="en-US" altLang="zh-CN"/>
              <a:t>“</a:t>
            </a:r>
            <a:r>
              <a:rPr lang="zh-CN" altLang="en-US"/>
              <a:t>插值</a:t>
            </a:r>
            <a:r>
              <a:rPr lang="en-US" altLang="zh-CN"/>
              <a:t>”</a:t>
            </a:r>
            <a:r>
              <a:rPr lang="zh-CN" altLang="en-US"/>
              <a:t>，还是有心理意义的不确定性建模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模型与真实数据的差异分析（模型是否能很好的</a:t>
            </a:r>
            <a:r>
              <a:rPr lang="zh-CN" altLang="en-US">
                <a:solidFill>
                  <a:srgbClr val="FF0000"/>
                </a:solidFill>
              </a:rPr>
              <a:t>捕捉</a:t>
            </a:r>
            <a:r>
              <a:rPr lang="zh-CN" altLang="en-US"/>
              <a:t>真实被试的实际反应情况）【模型的解释力与捕捉能力】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研究具体方法【参考文献篇】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r>
              <a:rPr lang="en-US" altLang="zh-CN"/>
              <a:t> </a:t>
            </a:r>
            <a:r>
              <a:rPr lang="zh-CN" altLang="en-US"/>
              <a:t>参考文献</a:t>
            </a:r>
            <a:endParaRPr lang="zh-CN" altLang="en-US"/>
          </a:p>
          <a:p>
            <a:pPr algn="ctr"/>
            <a:endParaRPr lang="zh-CN" altLang="en-US">
              <a:highlight>
                <a:srgbClr val="C0C0C0"/>
              </a:highlight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第一类：</a:t>
            </a:r>
            <a:r>
              <a:rPr lang="en-US" altLang="zh-CN"/>
              <a:t>Posterior / Prior Predictive Checks</a:t>
            </a:r>
            <a:r>
              <a:rPr lang="zh-CN" altLang="en-US"/>
              <a:t>（分布一致性）</a:t>
            </a:r>
            <a:endParaRPr lang="zh-CN" altLang="en-US"/>
          </a:p>
          <a:p>
            <a:pPr indent="457200" algn="ctr">
              <a:buNone/>
            </a:pPr>
            <a:r>
              <a:rPr lang="zh-CN" altLang="en-US">
                <a:highlight>
                  <a:srgbClr val="C0C0C0"/>
                </a:highlight>
              </a:rPr>
              <a:t>这个模型，是否能生成在统计分布层面</a:t>
            </a:r>
            <a:r>
              <a:rPr lang="en-US" altLang="zh-CN">
                <a:highlight>
                  <a:srgbClr val="C0C0C0"/>
                </a:highlight>
              </a:rPr>
              <a:t>“</a:t>
            </a:r>
            <a:r>
              <a:rPr lang="zh-CN" altLang="en-US">
                <a:highlight>
                  <a:srgbClr val="C0C0C0"/>
                </a:highlight>
              </a:rPr>
              <a:t>看起来像真实数据</a:t>
            </a:r>
            <a:r>
              <a:rPr lang="en-US" altLang="zh-CN">
                <a:highlight>
                  <a:srgbClr val="C0C0C0"/>
                </a:highlight>
              </a:rPr>
              <a:t>”</a:t>
            </a:r>
            <a:r>
              <a:rPr lang="zh-CN" altLang="en-US">
                <a:highlight>
                  <a:srgbClr val="C0C0C0"/>
                </a:highlight>
              </a:rPr>
              <a:t>的数据？</a:t>
            </a:r>
            <a:r>
              <a:rPr lang="en-US" altLang="zh-CN">
                <a:highlight>
                  <a:srgbClr val="C0C0C0"/>
                </a:highlight>
              </a:rPr>
              <a:t>	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en-US" altLang="zh-CN"/>
              <a:t>Gelman, A., Carlin, J. B., Stern, H. S., Dunson, D. B., Vehtari, A., &amp; Rubin, D. B. (2013).Bayesian data analysis (3rd ed.). Boca Raton, FL: CRC Press.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Gelman, A., Vehtari, A., Simpson, D., Margossian, C. C., Carpenter, B., Yao, Y., … Modr</a:t>
            </a:r>
            <a:r>
              <a:rPr lang="en-US" altLang="en-US"/>
              <a:t>á</a:t>
            </a:r>
            <a:r>
              <a:rPr lang="en-US" altLang="zh-CN"/>
              <a:t>k, M. (2020).Bayesian workflow. arXiv preprint arXiv:2011.01808.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Brown, S. D., &amp; Heathcote, A. (2008).The simplest complete model of choice response time: Linear ballistic accumulation.Cognitive Psychology, 57(3), 153–178. https://doi.org/10.1016/j.cogpsych.2007.12.002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Lee, M. D., &amp; Wagenmakers, E.-J. (2013).Bayesian cognitive modeling: A practical course. Cambridge: Cambridge University Press.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Haines, N., Kvam, P. D., Irving, L., Smith, C. T., Beauchaine, T. P., Pitt, M. A., Ahn, W.-Y., &amp; Turner, B. M. (2024). A tutorial on using generative models to advance psychological science: Lessons from the reliability paradox. Psychological Methods. https://doi.org/10.31234/osf.io/xr7y3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</a:t>
            </a:r>
            <a:r>
              <a:rPr lang="zh-CN" altLang="en-US">
                <a:sym typeface="+mn-ea"/>
              </a:rPr>
              <a:t>参考文献篇</a:t>
            </a:r>
            <a:r>
              <a:rPr lang="zh-CN" altLang="en-US"/>
              <a:t>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r>
              <a:rPr lang="en-US" altLang="zh-CN"/>
              <a:t> </a:t>
            </a:r>
            <a:r>
              <a:rPr lang="zh-CN" altLang="en-US"/>
              <a:t>参考文献</a:t>
            </a:r>
            <a:endParaRPr lang="zh-CN" altLang="en-US"/>
          </a:p>
          <a:p>
            <a:pPr algn="ctr"/>
            <a:endParaRPr lang="zh-CN" altLang="en-US">
              <a:highlight>
                <a:srgbClr val="C0C0C0"/>
              </a:highlight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第二类：</a:t>
            </a:r>
            <a:r>
              <a:rPr lang="en-US" altLang="zh-CN"/>
              <a:t>Effect-level checks</a:t>
            </a:r>
            <a:r>
              <a:rPr lang="zh-CN" altLang="en-US"/>
              <a:t>（心理效应是否自然涌现）</a:t>
            </a:r>
            <a:endParaRPr lang="zh-CN" altLang="en-US"/>
          </a:p>
          <a:p>
            <a:pPr indent="457200" algn="ctr">
              <a:buNone/>
            </a:pPr>
            <a:r>
              <a:rPr lang="zh-CN" altLang="en-US">
                <a:highlight>
                  <a:srgbClr val="C0C0C0"/>
                </a:highlight>
              </a:rPr>
              <a:t>模型是否在</a:t>
            </a:r>
            <a:r>
              <a:rPr lang="en-US" altLang="zh-CN">
                <a:highlight>
                  <a:srgbClr val="C0C0C0"/>
                </a:highlight>
              </a:rPr>
              <a:t>“</a:t>
            </a:r>
            <a:r>
              <a:rPr lang="zh-CN" altLang="en-US">
                <a:highlight>
                  <a:srgbClr val="C0C0C0"/>
                </a:highlight>
              </a:rPr>
              <a:t>没有强行编码</a:t>
            </a:r>
            <a:r>
              <a:rPr lang="en-US" altLang="zh-CN">
                <a:highlight>
                  <a:srgbClr val="C0C0C0"/>
                </a:highlight>
              </a:rPr>
              <a:t>”</a:t>
            </a:r>
            <a:r>
              <a:rPr lang="zh-CN" altLang="en-US">
                <a:highlight>
                  <a:srgbClr val="C0C0C0"/>
                </a:highlight>
              </a:rPr>
              <a:t>的情况下，仍然能生成目标心理效应？</a:t>
            </a:r>
            <a:r>
              <a:rPr lang="en-US" altLang="zh-CN">
                <a:highlight>
                  <a:srgbClr val="C0C0C0"/>
                </a:highlight>
              </a:rPr>
              <a:t>	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en-US" altLang="zh-CN"/>
              <a:t>Scheel, A. M., Schijen, M. R. J., &amp; Lakens, D. (2021).An excess of positive results: Comparing the standard psychology literature with registered reports.Advances in Methods and Practices in Psychological Science, 4(2), 1–12.https://doi.org/10.1177/25152459211007467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Oberauer, K., &amp; Lewandowsky, S. (2019).Addressing the theory crisis in psychology.Psychonomic Bulletin &amp; Review, 26(5), 1596–1618.https://doi.org/10.3758/s13423-019-01645-2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Sui, J., He, X., &amp; Humphreys, G. W. (2012).Perceptual effects of social salience: Evidence from self-prioritization effects on perceptual matching.Journal of Experimental Psychology: Human Perception and Performance, 38(5), 1105–1117.https://doi.org/10.1037/a0029792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</a:t>
            </a:r>
            <a:r>
              <a:rPr lang="zh-CN" altLang="en-US">
                <a:sym typeface="+mn-ea"/>
              </a:rPr>
              <a:t>参考文献篇</a:t>
            </a:r>
            <a:r>
              <a:rPr lang="zh-CN" altLang="en-US"/>
              <a:t>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</a:t>
            </a:r>
            <a:r>
              <a:rPr lang="zh-CN" altLang="en-US">
                <a:solidFill>
                  <a:srgbClr val="FF0000"/>
                </a:solidFill>
              </a:rPr>
              <a:t>预期</a:t>
            </a:r>
            <a:r>
              <a:rPr lang="zh-CN" altLang="en-US"/>
              <a:t>生成数据）【检查模型生成是否按照我们预想进行】</a:t>
            </a:r>
            <a:r>
              <a:rPr lang="en-US" altLang="zh-CN"/>
              <a:t> </a:t>
            </a:r>
            <a:r>
              <a:rPr lang="zh-CN" altLang="en-US"/>
              <a:t>参考文献</a:t>
            </a:r>
            <a:endParaRPr lang="zh-CN" altLang="en-US"/>
          </a:p>
          <a:p>
            <a:pPr algn="ctr"/>
            <a:endParaRPr lang="zh-CN" altLang="en-US">
              <a:highlight>
                <a:srgbClr val="C0C0C0"/>
              </a:highlight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第三类：结构</a:t>
            </a:r>
            <a:r>
              <a:rPr lang="en-US" altLang="zh-CN"/>
              <a:t> / </a:t>
            </a:r>
            <a:r>
              <a:rPr lang="zh-CN" altLang="en-US"/>
              <a:t>过程层检验（可解释性与鲁棒性）</a:t>
            </a:r>
            <a:endParaRPr lang="zh-CN" altLang="en-US"/>
          </a:p>
          <a:p>
            <a:pPr indent="457200" algn="ctr">
              <a:buNone/>
            </a:pPr>
            <a:r>
              <a:rPr lang="zh-CN" altLang="en-US">
                <a:highlight>
                  <a:srgbClr val="C0C0C0"/>
                </a:highlight>
              </a:rPr>
              <a:t>模型的心理机制是否可识别、稳定，而不是</a:t>
            </a:r>
            <a:r>
              <a:rPr lang="en-US" altLang="zh-CN">
                <a:highlight>
                  <a:srgbClr val="C0C0C0"/>
                </a:highlight>
              </a:rPr>
              <a:t>“</a:t>
            </a:r>
            <a:r>
              <a:rPr lang="zh-CN" altLang="en-US">
                <a:highlight>
                  <a:srgbClr val="C0C0C0"/>
                </a:highlight>
              </a:rPr>
              <a:t>参数万能解释器</a:t>
            </a:r>
            <a:r>
              <a:rPr lang="en-US" altLang="zh-CN">
                <a:highlight>
                  <a:srgbClr val="C0C0C0"/>
                </a:highlight>
              </a:rPr>
              <a:t>”</a:t>
            </a:r>
            <a:r>
              <a:rPr lang="zh-CN" altLang="en-US">
                <a:highlight>
                  <a:srgbClr val="C0C0C0"/>
                </a:highlight>
              </a:rPr>
              <a:t>？</a:t>
            </a:r>
            <a:r>
              <a:rPr lang="en-US" altLang="zh-CN">
                <a:highlight>
                  <a:srgbClr val="C0C0C0"/>
                </a:highlight>
              </a:rPr>
              <a:t>	</a:t>
            </a:r>
            <a:endParaRPr lang="zh-CN" altLang="en-US">
              <a:highlight>
                <a:srgbClr val="C0C0C0"/>
              </a:highlight>
            </a:endParaRPr>
          </a:p>
          <a:p>
            <a:pPr marL="800100" lvl="1" indent="-342900" algn="l">
              <a:buAutoNum type="arabicPeriod"/>
            </a:pPr>
            <a:r>
              <a:rPr lang="en-US" altLang="zh-CN"/>
              <a:t>Palminteri, S., Wyart, V., &amp; Koechlin, E. (2017).The importance of falsification in computational cognitive modeling.Trends in Cognitive Sciences, 21(6), 425–433.https://doi.org/10.1016/j.tics.2017.03.011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Heathcote, A., Brown, S. D., &amp; Wagenmakers, E.-J. (2015).An introduction to good practices in cognitive modeling.Psychological Methods, 20(4), 401–421.https://doi.org/10.1037/met0000047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Wilson, R. C., &amp; Adams, R. A. (2013).Gaussian process kernels for pattern discovery and extrapolation.arXiv preprint arXiv:1302.4245.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H</a:t>
            </a:r>
            <a:r>
              <a:rPr lang="en-US" altLang="en-US"/>
              <a:t>ü</a:t>
            </a:r>
            <a:r>
              <a:rPr lang="en-US" altLang="zh-CN"/>
              <a:t>bner, R., &amp; Pelzer, T. (2020). Improving parameter recovery for conflict drift-diffusion models. Behavior Research Methods, 52(5), 1848-1866. https://doi.org/10.3758/s13428-020-01366-8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White, C. N., Servant, M., &amp; Logan, G. D. (2018). Testing the validity of conflict drift-diffusion models for use in estimating cognitive processes: A parameter-recovery study. Psychonomic Bulletin &amp; Review, 25(1), 286-301. https://doi.org/10.3758/s13423-017-1271-2</a:t>
            </a:r>
            <a:endParaRPr lang="en-US" altLang="zh-CN"/>
          </a:p>
          <a:p>
            <a:pPr marL="800100" lvl="1" indent="-342900" algn="l">
              <a:buAutoNum type="arabicPeriod"/>
            </a:pPr>
            <a:r>
              <a:rPr lang="en-US" altLang="zh-CN"/>
              <a:t>H</a:t>
            </a:r>
            <a:r>
              <a:rPr lang="en-US" altLang="en-US"/>
              <a:t>ü</a:t>
            </a:r>
            <a:r>
              <a:rPr lang="en-US" altLang="zh-CN"/>
              <a:t>bner, R., &amp; Pelzer, T. (2020). Improving parameter recovery for conflict drift-diffusion models. Behavior Research Methods, 52(5), 1848-1866. https://doi.org/10.3758/s13428-020-01366-8</a:t>
            </a:r>
            <a:endParaRPr lang="en-US" altLang="zh-CN"/>
          </a:p>
          <a:p>
            <a:pPr marL="800100" lvl="1" indent="-342900" algn="l">
              <a:buAutoNum type="arabicPeriod"/>
            </a:pP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598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pPr algn="ctr"/>
            <a:r>
              <a:rPr lang="zh-CN" altLang="en-US">
                <a:highlight>
                  <a:srgbClr val="FFFF00"/>
                </a:highlight>
                <a:sym typeface="+mn-ea"/>
              </a:rPr>
              <a:t>实验设计空间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Ω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潜在心理参数（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DDM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→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行为数据（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RT, ACC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r>
              <a:rPr lang="en-US" altLang="zh-CN"/>
              <a:t>  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模型在多层级、多统计量、多不确定性条件下，是否能生成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“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看起来像人类</a:t>
            </a:r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”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的数据</a:t>
            </a:r>
            <a:endParaRPr lang="zh-CN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模型与真实数据的差异分析（模型是否能很好的</a:t>
            </a:r>
            <a:r>
              <a:rPr lang="zh-CN" altLang="en-US">
                <a:solidFill>
                  <a:srgbClr val="FF0000"/>
                </a:solidFill>
              </a:rPr>
              <a:t>捕捉</a:t>
            </a:r>
            <a:r>
              <a:rPr lang="zh-CN" altLang="en-US"/>
              <a:t>真实被试的实际反应情况）【模型的解释力与捕捉能力】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20090" y="586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WPS 演示</Application>
  <PresentationFormat>宽屏</PresentationFormat>
  <Paragraphs>143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 C</dc:creator>
  <cp:lastModifiedBy>蔡振辛</cp:lastModifiedBy>
  <cp:revision>75</cp:revision>
  <dcterms:created xsi:type="dcterms:W3CDTF">2023-08-09T12:44:00Z</dcterms:created>
  <dcterms:modified xsi:type="dcterms:W3CDTF">2026-05-09T02:19:13Z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E99CFA226E034348B48A93EF9BDC4CD5_12</vt:lpwstr>
  </property>
</Properties>
</file>